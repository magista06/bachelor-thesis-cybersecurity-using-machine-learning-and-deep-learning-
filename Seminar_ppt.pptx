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5245803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3573866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930109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C05AB0-FDD8-4C7D-BA1F-6002D793D990}" type="datetimeFigureOut">
              <a:rPr lang="en-IN" smtClean="0"/>
              <a:t>25-02-2020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3833210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C05AB0-FDD8-4C7D-BA1F-6002D793D990}" type="datetimeFigureOut">
              <a:rPr lang="en-IN" smtClean="0"/>
              <a:t>25-02-2020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3938920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C05AB0-FDD8-4C7D-BA1F-6002D793D990}" type="datetimeFigureOut">
              <a:rPr lang="en-IN" smtClean="0"/>
              <a:t>25-02-2020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743850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5C05AB0-FDD8-4C7D-BA1F-6002D793D990}" type="datetimeFigureOut">
              <a:rPr lang="en-IN" smtClean="0"/>
              <a:t>25-02-2020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1155658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C05AB0-FDD8-4C7D-BA1F-6002D793D990}" type="datetimeFigureOut">
              <a:rPr lang="en-IN" smtClean="0"/>
              <a:t>25-02-2020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363203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C05AB0-FDD8-4C7D-BA1F-6002D793D990}" type="datetimeFigureOut">
              <a:rPr lang="en-IN" smtClean="0"/>
              <a:t>25-02-2020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585142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C05AB0-FDD8-4C7D-BA1F-6002D793D990}" type="datetimeFigureOut">
              <a:rPr lang="en-IN" smtClean="0"/>
              <a:t>25-02-2020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683053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1810507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3640504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482509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1165537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2244281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983719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C05AB0-FDD8-4C7D-BA1F-6002D793D990}" type="datetimeFigureOut">
              <a:rPr lang="en-IN" smtClean="0"/>
              <a:t>25-02-2020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08379F-7F9B-4C88-808B-2827F06C3333}" type="slidenum">
              <a:rPr lang="en-IN" smtClean="0"/>
              <a:t>‹#›</a:t>
            </a:fld>
            <a:endParaRPr lang="en-IN"/>
          </a:p>
        </p:txBody>
      </p:sp>
    </p:spTree>
    <p:extLst>
      <p:ext uri="{BB962C8B-B14F-4D97-AF65-F5344CB8AC3E}">
        <p14:creationId xmlns:p14="http://schemas.microsoft.com/office/powerpoint/2010/main" val="2269036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5C05AB0-FDD8-4C7D-BA1F-6002D793D990}" type="datetimeFigureOut">
              <a:rPr lang="en-IN" smtClean="0"/>
              <a:t>25-02-2020</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F08379F-7F9B-4C88-808B-2827F06C3333}" type="slidenum">
              <a:rPr lang="en-IN" smtClean="0"/>
              <a:t>‹#›</a:t>
            </a:fld>
            <a:endParaRPr lang="en-IN"/>
          </a:p>
        </p:txBody>
      </p:sp>
    </p:spTree>
    <p:extLst>
      <p:ext uri="{BB962C8B-B14F-4D97-AF65-F5344CB8AC3E}">
        <p14:creationId xmlns:p14="http://schemas.microsoft.com/office/powerpoint/2010/main" val="629509988"/>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 TargetMode="External"/><Relationship Id="rId2" Type="http://schemas.openxmlformats.org/officeDocument/2006/relationships/hyperlink" Target="https://ieeexplore.ieee.org/document/8359287" TargetMode="External"/><Relationship Id="rId1" Type="http://schemas.openxmlformats.org/officeDocument/2006/relationships/slideLayout" Target="../slideLayouts/slideLayout2.xml"/><Relationship Id="rId5" Type="http://schemas.openxmlformats.org/officeDocument/2006/relationships/hyperlink" Target="https://www.javatpoint.com/cyber-security-technology" TargetMode="External"/><Relationship Id="rId4" Type="http://schemas.openxmlformats.org/officeDocument/2006/relationships/hyperlink" Target="https://www.wikipedia.or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CB53-D8A9-43D8-A5D2-3D48CDAD9351}"/>
              </a:ext>
            </a:extLst>
          </p:cNvPr>
          <p:cNvSpPr>
            <a:spLocks noGrp="1"/>
          </p:cNvSpPr>
          <p:nvPr>
            <p:ph type="ctrTitle"/>
          </p:nvPr>
        </p:nvSpPr>
        <p:spPr>
          <a:xfrm>
            <a:off x="2637113" y="-903220"/>
            <a:ext cx="9247573" cy="3266983"/>
          </a:xfrm>
        </p:spPr>
        <p:txBody>
          <a:bodyPr>
            <a:normAutofit/>
          </a:bodyPr>
          <a:lstStyle/>
          <a:p>
            <a:pPr algn="just"/>
            <a:r>
              <a:rPr lang="en-IN" sz="4000" b="1" dirty="0">
                <a:solidFill>
                  <a:srgbClr val="FF0000"/>
                </a:solidFill>
                <a:latin typeface="Times New Roman" panose="02020603050405020304" pitchFamily="18" charset="0"/>
                <a:cs typeface="Times New Roman" panose="02020603050405020304" pitchFamily="18" charset="0"/>
              </a:rPr>
              <a:t>Cybersecurity using machine learning and deep learning</a:t>
            </a:r>
          </a:p>
        </p:txBody>
      </p:sp>
      <p:sp>
        <p:nvSpPr>
          <p:cNvPr id="3" name="Subtitle 2">
            <a:extLst>
              <a:ext uri="{FF2B5EF4-FFF2-40B4-BE49-F238E27FC236}">
                <a16:creationId xmlns:a16="http://schemas.microsoft.com/office/drawing/2014/main" id="{4BAE0C02-B206-4545-999B-320723F3BCEC}"/>
              </a:ext>
            </a:extLst>
          </p:cNvPr>
          <p:cNvSpPr>
            <a:spLocks noGrp="1"/>
          </p:cNvSpPr>
          <p:nvPr>
            <p:ph type="subTitle" idx="1"/>
          </p:nvPr>
        </p:nvSpPr>
        <p:spPr>
          <a:xfrm>
            <a:off x="3942130" y="3295915"/>
            <a:ext cx="7197726" cy="2139355"/>
          </a:xfrm>
        </p:spPr>
        <p:txBody>
          <a:bodyPr>
            <a:normAutofit/>
          </a:bodyPr>
          <a:lstStyle/>
          <a:p>
            <a:pPr algn="l"/>
            <a:r>
              <a:rPr lang="en-IN" dirty="0"/>
              <a:t>Represented by : sudhanshu shekhar</a:t>
            </a:r>
          </a:p>
          <a:p>
            <a:pPr algn="l"/>
            <a:r>
              <a:rPr lang="en-IN" dirty="0"/>
              <a:t>			       roll no.-26</a:t>
            </a:r>
          </a:p>
          <a:p>
            <a:pPr algn="l"/>
            <a:r>
              <a:rPr lang="en-IN" dirty="0"/>
              <a:t>			       semester : s8</a:t>
            </a:r>
          </a:p>
          <a:p>
            <a:pPr algn="l"/>
            <a:r>
              <a:rPr lang="en-IN" dirty="0"/>
              <a:t>			       branch : information technology</a:t>
            </a:r>
          </a:p>
          <a:p>
            <a:pPr algn="l"/>
            <a:r>
              <a:rPr lang="en-IN" dirty="0"/>
              <a:t>			       registration no. : 14170234</a:t>
            </a:r>
          </a:p>
        </p:txBody>
      </p:sp>
    </p:spTree>
    <p:extLst>
      <p:ext uri="{BB962C8B-B14F-4D97-AF65-F5344CB8AC3E}">
        <p14:creationId xmlns:p14="http://schemas.microsoft.com/office/powerpoint/2010/main" val="1783856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2212-048F-4284-8544-026B3275DBA6}"/>
              </a:ext>
            </a:extLst>
          </p:cNvPr>
          <p:cNvSpPr>
            <a:spLocks noGrp="1"/>
          </p:cNvSpPr>
          <p:nvPr>
            <p:ph type="title"/>
          </p:nvPr>
        </p:nvSpPr>
        <p:spPr>
          <a:xfrm>
            <a:off x="685801" y="263371"/>
            <a:ext cx="10131425" cy="1456267"/>
          </a:xfrm>
        </p:spPr>
        <p:txBody>
          <a:bodyPr/>
          <a:lstStyle/>
          <a:p>
            <a:r>
              <a:rPr lang="en-IN" b="1" u="sng" dirty="0">
                <a:latin typeface="Times New Roman" panose="02020603050405020304" pitchFamily="18" charset="0"/>
                <a:cs typeface="Times New Roman" panose="02020603050405020304" pitchFamily="18" charset="0"/>
              </a:rPr>
              <a:t>Content</a:t>
            </a:r>
            <a:r>
              <a:rPr lang="en-IN" dirty="0"/>
              <a:t>:</a:t>
            </a:r>
            <a:br>
              <a:rPr lang="en-IN" dirty="0"/>
            </a:br>
            <a:endParaRPr lang="en-IN" dirty="0"/>
          </a:p>
        </p:txBody>
      </p:sp>
      <p:sp>
        <p:nvSpPr>
          <p:cNvPr id="3" name="Content Placeholder 2">
            <a:extLst>
              <a:ext uri="{FF2B5EF4-FFF2-40B4-BE49-F238E27FC236}">
                <a16:creationId xmlns:a16="http://schemas.microsoft.com/office/drawing/2014/main" id="{5EFC07A0-BC1C-4E6F-9A10-FF64D8D13229}"/>
              </a:ext>
            </a:extLst>
          </p:cNvPr>
          <p:cNvSpPr>
            <a:spLocks noGrp="1"/>
          </p:cNvSpPr>
          <p:nvPr>
            <p:ph idx="1"/>
          </p:nvPr>
        </p:nvSpPr>
        <p:spPr>
          <a:xfrm>
            <a:off x="685800" y="1396343"/>
            <a:ext cx="10131425" cy="3649133"/>
          </a:xfrm>
        </p:spPr>
        <p:txBody>
          <a:bodyPr/>
          <a:lstStyle/>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EXISTING SYSTEM AND DRWABACK</a:t>
            </a:r>
          </a:p>
          <a:p>
            <a:r>
              <a:rPr lang="en-IN" dirty="0">
                <a:latin typeface="Times New Roman" panose="02020603050405020304" pitchFamily="18" charset="0"/>
                <a:cs typeface="Times New Roman" panose="02020603050405020304" pitchFamily="18" charset="0"/>
              </a:rPr>
              <a:t>NEW SYSTEM</a:t>
            </a:r>
          </a:p>
          <a:p>
            <a:r>
              <a:rPr lang="en-IN" dirty="0">
                <a:latin typeface="Times New Roman" panose="02020603050405020304" pitchFamily="18" charset="0"/>
                <a:cs typeface="Times New Roman" panose="02020603050405020304" pitchFamily="18" charset="0"/>
              </a:rPr>
              <a:t>DESIGN AND IMPLEMENTATION </a:t>
            </a:r>
          </a:p>
          <a:p>
            <a:r>
              <a:rPr lang="en-IN">
                <a:latin typeface="Times New Roman" panose="02020603050405020304" pitchFamily="18" charset="0"/>
                <a:cs typeface="Times New Roman" panose="02020603050405020304" pitchFamily="18" charset="0"/>
              </a:rPr>
              <a:t>DISADVANTAGES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CONCLUSION</a:t>
            </a:r>
          </a:p>
          <a:p>
            <a:r>
              <a:rPr lang="en-IN" dirty="0">
                <a:latin typeface="Times New Roman" panose="02020603050405020304" pitchFamily="18" charset="0"/>
                <a:cs typeface="Times New Roman" panose="02020603050405020304" pitchFamily="18" charset="0"/>
              </a:rPr>
              <a:t>REFERENCE</a:t>
            </a:r>
          </a:p>
        </p:txBody>
      </p:sp>
    </p:spTree>
    <p:extLst>
      <p:ext uri="{BB962C8B-B14F-4D97-AF65-F5344CB8AC3E}">
        <p14:creationId xmlns:p14="http://schemas.microsoft.com/office/powerpoint/2010/main" val="3499444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36188-5363-4D8D-8600-6B4036945C9F}"/>
              </a:ext>
            </a:extLst>
          </p:cNvPr>
          <p:cNvSpPr>
            <a:spLocks noGrp="1"/>
          </p:cNvSpPr>
          <p:nvPr>
            <p:ph type="title"/>
          </p:nvPr>
        </p:nvSpPr>
        <p:spPr>
          <a:xfrm>
            <a:off x="685800" y="594804"/>
            <a:ext cx="10131425" cy="1456267"/>
          </a:xfrm>
        </p:spPr>
        <p:txBody>
          <a:bodyPr/>
          <a:lstStyle/>
          <a:p>
            <a:r>
              <a:rPr lang="en-IN" u="sng"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D969295F-B1B9-4D9E-94CC-B481598A2BE0}"/>
              </a:ext>
            </a:extLst>
          </p:cNvPr>
          <p:cNvSpPr>
            <a:spLocks noGrp="1"/>
          </p:cNvSpPr>
          <p:nvPr>
            <p:ph idx="1"/>
          </p:nvPr>
        </p:nvSpPr>
        <p:spPr>
          <a:xfrm>
            <a:off x="685800" y="1041236"/>
            <a:ext cx="10131425" cy="5816764"/>
          </a:xfrm>
        </p:spPr>
        <p:txBody>
          <a:bodyPr>
            <a:normAutofit/>
          </a:bodyPr>
          <a:lstStyle/>
          <a:p>
            <a:pPr algn="just"/>
            <a:r>
              <a:rPr lang="en-US" dirty="0">
                <a:latin typeface="Times New Roman" panose="02020603050405020304" pitchFamily="18" charset="0"/>
                <a:cs typeface="Times New Roman" panose="02020603050405020304" pitchFamily="18" charset="0"/>
              </a:rPr>
              <a:t>Machine learning (ML) and Deep Learning (DL) is adopted in a wide range of domains where it shows its superiority over traditional rule-based algorithms. These methods are being integrated in cyber detection systems with the goal of supporting or even replacing the first level of security analysts. Although the complete automation of detection and analysis is an enticing goal, the efficacy of machine learning in cyber security must be evaluated with the due diligence. I present an analysis, addressed to security specialists, of machine learning techniques applied to the detection of intrusion, malware, and spam. The goal is twofold: to assess the current maturity of these solutions and to identify their main limitations that prevent an immediate adoption of machine learning cyber detection schemes. Our conclusions are based on an extensive review of the literature as well as on experiments performed on real enterprise systems and network traffic.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81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B98AC-6A8D-429B-9C04-8FFA160FD4A5}"/>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6287F84-0320-4F6B-B2D8-6F1B28370404}"/>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Cybersecurity is a set of technologies and processes designed to protect computers, networks, programs and data from attacks and unauthorized access, alteration, or destruction.</a:t>
            </a:r>
          </a:p>
          <a:p>
            <a:pPr algn="just"/>
            <a:r>
              <a:rPr lang="en-US" dirty="0">
                <a:latin typeface="Times New Roman" panose="02020603050405020304" pitchFamily="18" charset="0"/>
                <a:cs typeface="Times New Roman" panose="02020603050405020304" pitchFamily="18" charset="0"/>
              </a:rPr>
              <a:t>A network security system consists of a network security system and a computer security system. Each of these systems includes firewalls, antivirus software, and intrusion </a:t>
            </a:r>
            <a:r>
              <a:rPr lang="en-IN" dirty="0">
                <a:latin typeface="Times New Roman" panose="02020603050405020304" pitchFamily="18" charset="0"/>
                <a:cs typeface="Times New Roman" panose="02020603050405020304" pitchFamily="18" charset="0"/>
              </a:rPr>
              <a:t>detection systems (IDS).</a:t>
            </a:r>
          </a:p>
          <a:p>
            <a:pPr algn="just"/>
            <a:r>
              <a:rPr lang="en-US" dirty="0">
                <a:latin typeface="Times New Roman" panose="02020603050405020304" pitchFamily="18" charset="0"/>
                <a:cs typeface="Times New Roman" panose="02020603050405020304" pitchFamily="18" charset="0"/>
              </a:rPr>
              <a:t>Security breaches include external intrusions and internal intrusions. There are three main types of network analysis for IDSs: misuse-based, also known as signature-based, </a:t>
            </a:r>
            <a:r>
              <a:rPr lang="en-IN" dirty="0">
                <a:latin typeface="Times New Roman" panose="02020603050405020304" pitchFamily="18" charset="0"/>
                <a:cs typeface="Times New Roman" panose="02020603050405020304" pitchFamily="18" charset="0"/>
              </a:rPr>
              <a:t>anomaly-based, and hybrid.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16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715D-87DD-42C5-A63F-ED349A5E0C14}"/>
              </a:ext>
            </a:extLst>
          </p:cNvPr>
          <p:cNvSpPr>
            <a:spLocks noGrp="1"/>
          </p:cNvSpPr>
          <p:nvPr>
            <p:ph type="title"/>
          </p:nvPr>
        </p:nvSpPr>
        <p:spPr>
          <a:xfrm>
            <a:off x="685800" y="0"/>
            <a:ext cx="10131425" cy="1456267"/>
          </a:xfrm>
        </p:spPr>
        <p:txBody>
          <a:bodyPr/>
          <a:lstStyle/>
          <a:p>
            <a:r>
              <a:rPr lang="en-IN" b="1" u="sng" dirty="0">
                <a:latin typeface="Times New Roman" panose="02020603050405020304" pitchFamily="18" charset="0"/>
                <a:cs typeface="Times New Roman" panose="02020603050405020304" pitchFamily="18" charset="0"/>
              </a:rPr>
              <a:t>cyber security:</a:t>
            </a:r>
          </a:p>
        </p:txBody>
      </p:sp>
      <p:sp>
        <p:nvSpPr>
          <p:cNvPr id="3" name="Content Placeholder 2">
            <a:extLst>
              <a:ext uri="{FF2B5EF4-FFF2-40B4-BE49-F238E27FC236}">
                <a16:creationId xmlns:a16="http://schemas.microsoft.com/office/drawing/2014/main" id="{AA4DBB88-45C0-44F5-B870-F305203103ED}"/>
              </a:ext>
            </a:extLst>
          </p:cNvPr>
          <p:cNvSpPr>
            <a:spLocks noGrp="1"/>
          </p:cNvSpPr>
          <p:nvPr>
            <p:ph idx="1"/>
          </p:nvPr>
        </p:nvSpPr>
        <p:spPr>
          <a:xfrm>
            <a:off x="685800" y="1760327"/>
            <a:ext cx="10131425" cy="5688038"/>
          </a:xfrm>
        </p:spPr>
        <p:txBody>
          <a:bodyPr>
            <a:normAutofit/>
          </a:bodyPr>
          <a:lstStyle/>
          <a:p>
            <a:pPr algn="just"/>
            <a:r>
              <a:rPr lang="en-US" b="1" u="sng" cap="all" dirty="0">
                <a:latin typeface="Times New Roman" panose="02020603050405020304" pitchFamily="18" charset="0"/>
                <a:cs typeface="Times New Roman" panose="02020603050405020304" pitchFamily="18" charset="0"/>
              </a:rPr>
              <a:t>A DEFINITION OF CYBER SECURITY:</a:t>
            </a:r>
          </a:p>
          <a:p>
            <a:pPr marL="0" indent="0" algn="just">
              <a:buNone/>
            </a:pPr>
            <a:r>
              <a:rPr lang="en-US" dirty="0">
                <a:latin typeface="Times New Roman" panose="02020603050405020304" pitchFamily="18" charset="0"/>
                <a:cs typeface="Times New Roman" panose="02020603050405020304" pitchFamily="18" charset="0"/>
              </a:rPr>
              <a:t>                       Cyber security refers to the body of technologies, processes, and practices designed to protect networks, devices, programs, and data from attack, damage, or unauthorized access. Cyber security may also be referred to as information technology security.</a:t>
            </a:r>
          </a:p>
          <a:p>
            <a:pPr algn="just"/>
            <a:r>
              <a:rPr lang="en-US" b="1" u="sng" cap="all" dirty="0">
                <a:latin typeface="Times New Roman" panose="02020603050405020304" pitchFamily="18" charset="0"/>
                <a:cs typeface="Times New Roman" panose="02020603050405020304" pitchFamily="18" charset="0"/>
              </a:rPr>
              <a:t>THE IMPORTANCE OF CYBER SECURITY</a:t>
            </a:r>
            <a:r>
              <a:rPr lang="en-US" b="1" cap="all" dirty="0">
                <a:latin typeface="Times New Roman" panose="02020603050405020304" pitchFamily="18" charset="0"/>
                <a:cs typeface="Times New Roman" panose="02020603050405020304" pitchFamily="18" charset="0"/>
              </a:rPr>
              <a:t>:</a:t>
            </a:r>
          </a:p>
          <a:p>
            <a:pPr marL="342900" indent="-342900" algn="just">
              <a:buFont typeface="+mj-lt"/>
              <a:buAutoNum type="alphaLcPeriod"/>
            </a:pPr>
            <a:r>
              <a:rPr lang="en-US" dirty="0">
                <a:latin typeface="Times New Roman" panose="02020603050405020304" pitchFamily="18" charset="0"/>
                <a:cs typeface="Times New Roman" panose="02020603050405020304" pitchFamily="18" charset="0"/>
              </a:rPr>
              <a:t>    Cyber security is important because government, military, corporate, financial, and medical organizations collect, process, and store unprecedented amounts of data on computers and other devices. </a:t>
            </a:r>
          </a:p>
          <a:p>
            <a:pPr marL="342900" indent="-342900" algn="just">
              <a:buFont typeface="+mj-lt"/>
              <a:buAutoNum type="alphaLcPeriod"/>
            </a:pPr>
            <a:r>
              <a:rPr lang="en-US" dirty="0">
                <a:latin typeface="Times New Roman" panose="02020603050405020304" pitchFamily="18" charset="0"/>
                <a:cs typeface="Times New Roman" panose="02020603050405020304" pitchFamily="18" charset="0"/>
              </a:rPr>
              <a:t>A significant portion of that data can be sensitive information, whether that be intellectual property, financial data, personal information, or other types of data for which unauthorized access or exposure could have negative consequences.</a:t>
            </a:r>
          </a:p>
          <a:p>
            <a:pPr marL="342900" indent="-342900" algn="just">
              <a:buFont typeface="+mj-lt"/>
              <a:buAutoNum type="alphaLcPeriod"/>
            </a:pPr>
            <a:endParaRPr lang="en-IN" b="1" cap="all" dirty="0">
              <a:latin typeface="Times New Roman" panose="02020603050405020304" pitchFamily="18" charset="0"/>
              <a:cs typeface="Times New Roman" panose="02020603050405020304" pitchFamily="18" charset="0"/>
            </a:endParaRPr>
          </a:p>
          <a:p>
            <a:pPr algn="just"/>
            <a:endParaRPr lang="en-US" b="1" cap="all"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96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EA66-FB6C-4221-BFFB-715AA550EEE1}"/>
              </a:ext>
            </a:extLst>
          </p:cNvPr>
          <p:cNvSpPr>
            <a:spLocks noGrp="1"/>
          </p:cNvSpPr>
          <p:nvPr>
            <p:ph type="title"/>
          </p:nvPr>
        </p:nvSpPr>
        <p:spPr>
          <a:xfrm>
            <a:off x="12277817" y="1213281"/>
            <a:ext cx="323820" cy="457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0649786-83F8-4D02-80B2-A39B0A073F52}"/>
              </a:ext>
            </a:extLst>
          </p:cNvPr>
          <p:cNvSpPr>
            <a:spLocks noGrp="1"/>
          </p:cNvSpPr>
          <p:nvPr>
            <p:ph idx="1"/>
          </p:nvPr>
        </p:nvSpPr>
        <p:spPr>
          <a:xfrm>
            <a:off x="1009621" y="877944"/>
            <a:ext cx="10131425" cy="5102112"/>
          </a:xfrm>
        </p:spPr>
        <p:txBody>
          <a:bodyPr>
            <a:normAutofit/>
          </a:bodyPr>
          <a:lstStyle/>
          <a:p>
            <a:pPr algn="just"/>
            <a:r>
              <a:rPr lang="en-IN" b="1" u="sng" cap="all" dirty="0">
                <a:latin typeface="Times New Roman" panose="02020603050405020304" pitchFamily="18" charset="0"/>
                <a:cs typeface="Times New Roman" panose="02020603050405020304" pitchFamily="18" charset="0"/>
              </a:rPr>
              <a:t>CHALLENGES OF CYBER SECURITY</a:t>
            </a:r>
            <a:r>
              <a:rPr lang="en-IN" b="1" cap="all" dirty="0">
                <a:latin typeface="Times New Roman" panose="02020603050405020304" pitchFamily="18" charset="0"/>
                <a:cs typeface="Times New Roman" panose="02020603050405020304" pitchFamily="18" charset="0"/>
              </a:rPr>
              <a:t>:</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Network security</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Application security</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Endpoint security</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Data security</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Cloud security</a:t>
            </a:r>
          </a:p>
          <a:p>
            <a:pPr marL="342900" indent="-342900" fontAlgn="base">
              <a:buFont typeface="+mj-lt"/>
              <a:buAutoNum type="alphaLcPeriod"/>
            </a:pPr>
            <a:r>
              <a:rPr lang="en-US" dirty="0">
                <a:latin typeface="Times New Roman" panose="02020603050405020304" pitchFamily="18" charset="0"/>
                <a:cs typeface="Times New Roman" panose="02020603050405020304" pitchFamily="18" charset="0"/>
              </a:rPr>
              <a:t>Mobile security</a:t>
            </a:r>
          </a:p>
          <a:p>
            <a:endParaRPr lang="en-IN" dirty="0"/>
          </a:p>
        </p:txBody>
      </p:sp>
    </p:spTree>
    <p:extLst>
      <p:ext uri="{BB962C8B-B14F-4D97-AF65-F5344CB8AC3E}">
        <p14:creationId xmlns:p14="http://schemas.microsoft.com/office/powerpoint/2010/main" val="1283279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ABB1-2B96-41F5-9C2A-F4EF20B04B0F}"/>
              </a:ext>
            </a:extLst>
          </p:cNvPr>
          <p:cNvSpPr>
            <a:spLocks noGrp="1"/>
          </p:cNvSpPr>
          <p:nvPr>
            <p:ph type="title"/>
          </p:nvPr>
        </p:nvSpPr>
        <p:spPr>
          <a:xfrm>
            <a:off x="685801" y="-168676"/>
            <a:ext cx="10131425" cy="1456267"/>
          </a:xfrm>
        </p:spPr>
        <p:txBody>
          <a:bodyPr/>
          <a:lstStyle/>
          <a:p>
            <a:r>
              <a:rPr lang="en-IN" b="1" u="sng" dirty="0">
                <a:latin typeface="Times New Roman" panose="02020603050405020304" pitchFamily="18" charset="0"/>
                <a:cs typeface="Times New Roman" panose="02020603050405020304" pitchFamily="18" charset="0"/>
              </a:rPr>
              <a:t>Intrusion detection:</a:t>
            </a:r>
          </a:p>
        </p:txBody>
      </p:sp>
      <p:sp>
        <p:nvSpPr>
          <p:cNvPr id="3" name="Content Placeholder 2">
            <a:extLst>
              <a:ext uri="{FF2B5EF4-FFF2-40B4-BE49-F238E27FC236}">
                <a16:creationId xmlns:a16="http://schemas.microsoft.com/office/drawing/2014/main" id="{0C5953F1-729D-4035-B79B-768AA44D438A}"/>
              </a:ext>
            </a:extLst>
          </p:cNvPr>
          <p:cNvSpPr>
            <a:spLocks noGrp="1"/>
          </p:cNvSpPr>
          <p:nvPr>
            <p:ph idx="1"/>
          </p:nvPr>
        </p:nvSpPr>
        <p:spPr>
          <a:xfrm>
            <a:off x="685801" y="1085624"/>
            <a:ext cx="10131425" cy="5412830"/>
          </a:xfrm>
        </p:spPr>
        <p:txBody>
          <a:bodyPr/>
          <a:lstStyle/>
          <a:p>
            <a:r>
              <a:rPr lang="en-US" dirty="0">
                <a:latin typeface="Times New Roman" panose="02020603050405020304" pitchFamily="18" charset="0"/>
                <a:cs typeface="Times New Roman" panose="02020603050405020304" pitchFamily="18" charset="0"/>
              </a:rPr>
              <a:t>Intrusion detection systems help discover, determine and identify unauthorized system behavior such as use, copying, </a:t>
            </a:r>
            <a:r>
              <a:rPr lang="en-IN" dirty="0">
                <a:latin typeface="Times New Roman" panose="02020603050405020304" pitchFamily="18" charset="0"/>
                <a:cs typeface="Times New Roman" panose="02020603050405020304" pitchFamily="18" charset="0"/>
              </a:rPr>
              <a:t>modification and destruction.</a:t>
            </a:r>
          </a:p>
          <a:p>
            <a:r>
              <a:rPr lang="en-US" dirty="0">
                <a:latin typeface="Times New Roman" panose="02020603050405020304" pitchFamily="18" charset="0"/>
                <a:cs typeface="Times New Roman" panose="02020603050405020304" pitchFamily="18" charset="0"/>
              </a:rPr>
              <a:t>Security breaches include external intrusions and internal </a:t>
            </a:r>
            <a:r>
              <a:rPr lang="en-IN" dirty="0">
                <a:latin typeface="Times New Roman" panose="02020603050405020304" pitchFamily="18" charset="0"/>
                <a:cs typeface="Times New Roman" panose="02020603050405020304" pitchFamily="18" charset="0"/>
              </a:rPr>
              <a:t>intrusions.</a:t>
            </a:r>
          </a:p>
          <a:p>
            <a:r>
              <a:rPr lang="en-US" dirty="0">
                <a:latin typeface="Times New Roman" panose="02020603050405020304" pitchFamily="18" charset="0"/>
                <a:cs typeface="Times New Roman" panose="02020603050405020304" pitchFamily="18" charset="0"/>
              </a:rPr>
              <a:t>Three main types of network analysis </a:t>
            </a:r>
            <a:r>
              <a:rPr lang="en-IN" dirty="0">
                <a:latin typeface="Times New Roman" panose="02020603050405020304" pitchFamily="18" charset="0"/>
                <a:cs typeface="Times New Roman" panose="02020603050405020304" pitchFamily="18" charset="0"/>
              </a:rPr>
              <a:t>for IDSs:</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Misuse-based also known as signature-based</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Anomaly-based</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Hybrid</a:t>
            </a:r>
          </a:p>
          <a:p>
            <a:pPr marL="0" indent="0">
              <a:buNone/>
            </a:pPr>
            <a:endParaRPr lang="en-IN" dirty="0"/>
          </a:p>
          <a:p>
            <a:endParaRPr lang="en-IN" dirty="0"/>
          </a:p>
        </p:txBody>
      </p:sp>
    </p:spTree>
    <p:extLst>
      <p:ext uri="{BB962C8B-B14F-4D97-AF65-F5344CB8AC3E}">
        <p14:creationId xmlns:p14="http://schemas.microsoft.com/office/powerpoint/2010/main" val="2957278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4F5A-9916-4624-810B-FBB11712FE4D}"/>
              </a:ext>
            </a:extLst>
          </p:cNvPr>
          <p:cNvSpPr>
            <a:spLocks noGrp="1"/>
          </p:cNvSpPr>
          <p:nvPr>
            <p:ph type="title"/>
          </p:nvPr>
        </p:nvSpPr>
        <p:spPr>
          <a:xfrm>
            <a:off x="685800" y="-216024"/>
            <a:ext cx="10131425" cy="1456267"/>
          </a:xfrm>
        </p:spPr>
        <p:txBody>
          <a:bodyPr>
            <a:normAutofit/>
          </a:bodyPr>
          <a:lstStyle/>
          <a:p>
            <a:r>
              <a:rPr lang="en-IN" sz="3200" b="1" u="sng" dirty="0">
                <a:latin typeface="Times New Roman" panose="02020603050405020304" pitchFamily="18" charset="0"/>
                <a:cs typeface="Times New Roman" panose="02020603050405020304" pitchFamily="18" charset="0"/>
              </a:rPr>
              <a:t>Machine learning and deep learning:</a:t>
            </a:r>
          </a:p>
        </p:txBody>
      </p:sp>
      <p:sp>
        <p:nvSpPr>
          <p:cNvPr id="3" name="Content Placeholder 2">
            <a:extLst>
              <a:ext uri="{FF2B5EF4-FFF2-40B4-BE49-F238E27FC236}">
                <a16:creationId xmlns:a16="http://schemas.microsoft.com/office/drawing/2014/main" id="{C46A48A9-E815-416A-94ED-3743EF222B34}"/>
              </a:ext>
            </a:extLst>
          </p:cNvPr>
          <p:cNvSpPr>
            <a:spLocks noGrp="1"/>
          </p:cNvSpPr>
          <p:nvPr>
            <p:ph idx="1"/>
          </p:nvPr>
        </p:nvSpPr>
        <p:spPr>
          <a:xfrm>
            <a:off x="685800" y="996848"/>
            <a:ext cx="11290177" cy="5572628"/>
          </a:xfrm>
        </p:spPr>
        <p:txBody>
          <a:bodyPr/>
          <a:lstStyle/>
          <a:p>
            <a:r>
              <a:rPr lang="en-IN" b="1" u="sng" dirty="0">
                <a:latin typeface="Times New Roman" panose="02020603050405020304" pitchFamily="18" charset="0"/>
                <a:cs typeface="Times New Roman" panose="02020603050405020304" pitchFamily="18" charset="0"/>
              </a:rPr>
              <a:t>DEFINATION OF MACHINE LEARNING:</a:t>
            </a:r>
          </a:p>
          <a:p>
            <a:pPr marL="0" indent="0" algn="just">
              <a:buNone/>
            </a:pPr>
            <a:r>
              <a:rPr lang="en-US" dirty="0"/>
              <a:t>Machine learning is an application of artificial intelligence (AI) that provides systems the ability to automatically learn and improve from experience without being explicitly programmed.</a:t>
            </a:r>
          </a:p>
          <a:p>
            <a:pPr marL="0" indent="0" algn="just">
              <a:buNone/>
            </a:pPr>
            <a:r>
              <a:rPr lang="en-US" dirty="0"/>
              <a:t>Machine learning focuses on the development of computer programs that can access data and use it learn for themselves.</a:t>
            </a:r>
          </a:p>
          <a:p>
            <a:pPr marL="0" indent="0" algn="just">
              <a:buNone/>
            </a:pPr>
            <a:endParaRPr lang="en-US" dirty="0"/>
          </a:p>
          <a:p>
            <a:pPr algn="just"/>
            <a:r>
              <a:rPr lang="en-US" b="1" u="sng" dirty="0">
                <a:latin typeface="Times New Roman" panose="02020603050405020304" pitchFamily="18" charset="0"/>
                <a:cs typeface="Times New Roman" panose="02020603050405020304" pitchFamily="18" charset="0"/>
              </a:rPr>
              <a:t>DEFINATION OF DEEP LEARNING:</a:t>
            </a:r>
          </a:p>
          <a:p>
            <a:pPr marL="0" indent="0" algn="just">
              <a:buNone/>
            </a:pPr>
            <a:endParaRPr lang="en-IN" b="1" u="sng" dirty="0">
              <a:latin typeface="Times New Roman" panose="02020603050405020304" pitchFamily="18" charset="0"/>
              <a:cs typeface="Times New Roman" panose="02020603050405020304" pitchFamily="18" charset="0"/>
            </a:endParaRPr>
          </a:p>
          <a:p>
            <a:pPr marL="0" indent="0" algn="just">
              <a:buNone/>
            </a:pPr>
            <a:r>
              <a:rPr lang="en-US" dirty="0"/>
              <a:t>Deep learning is part of a broader family of machine learning methods based on artificial neural networks with representation learning. </a:t>
            </a:r>
          </a:p>
          <a:p>
            <a:pPr marL="0" indent="0" algn="just">
              <a:buNone/>
            </a:pPr>
            <a:r>
              <a:rPr lang="en-US" dirty="0"/>
              <a:t>Learning can be supervised, semi-supervised or unsupervised.</a:t>
            </a: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87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97E9-3562-40B9-A56E-59C0878E010E}"/>
              </a:ext>
            </a:extLst>
          </p:cNvPr>
          <p:cNvSpPr>
            <a:spLocks noGrp="1"/>
          </p:cNvSpPr>
          <p:nvPr>
            <p:ph type="title"/>
          </p:nvPr>
        </p:nvSpPr>
        <p:spPr>
          <a:xfrm flipH="1">
            <a:off x="12419859" y="1115627"/>
            <a:ext cx="55487" cy="216023"/>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0C22C0A1-A77E-499E-AA56-FC5FE5F7B0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6140" y="277227"/>
            <a:ext cx="8868792" cy="6351732"/>
          </a:xfrm>
        </p:spPr>
      </p:pic>
    </p:spTree>
    <p:extLst>
      <p:ext uri="{BB962C8B-B14F-4D97-AF65-F5344CB8AC3E}">
        <p14:creationId xmlns:p14="http://schemas.microsoft.com/office/powerpoint/2010/main" val="4204858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68E2-CF9B-433C-8D2C-26F27EA027FF}"/>
              </a:ext>
            </a:extLst>
          </p:cNvPr>
          <p:cNvSpPr>
            <a:spLocks noGrp="1"/>
          </p:cNvSpPr>
          <p:nvPr>
            <p:ph type="title"/>
          </p:nvPr>
        </p:nvSpPr>
        <p:spPr>
          <a:xfrm>
            <a:off x="685801" y="0"/>
            <a:ext cx="10131425" cy="1456267"/>
          </a:xfrm>
        </p:spPr>
        <p:txBody>
          <a:bodyPr/>
          <a:lstStyle/>
          <a:p>
            <a:r>
              <a:rPr lang="en-IN" b="1" u="sng" dirty="0">
                <a:latin typeface="Times New Roman" panose="02020603050405020304" pitchFamily="18" charset="0"/>
                <a:cs typeface="Times New Roman" panose="02020603050405020304" pitchFamily="18" charset="0"/>
              </a:rPr>
              <a:t>DIFFERENCE BETWEEN MACHINE LEARNING AND DEEP LEARNING:</a:t>
            </a:r>
          </a:p>
        </p:txBody>
      </p:sp>
      <p:sp>
        <p:nvSpPr>
          <p:cNvPr id="3" name="Content Placeholder 2">
            <a:extLst>
              <a:ext uri="{FF2B5EF4-FFF2-40B4-BE49-F238E27FC236}">
                <a16:creationId xmlns:a16="http://schemas.microsoft.com/office/drawing/2014/main" id="{81ED7D22-E078-4DEC-9DA2-FEE96D4F0D55}"/>
              </a:ext>
            </a:extLst>
          </p:cNvPr>
          <p:cNvSpPr>
            <a:spLocks noGrp="1"/>
          </p:cNvSpPr>
          <p:nvPr>
            <p:ph idx="1"/>
          </p:nvPr>
        </p:nvSpPr>
        <p:spPr>
          <a:xfrm>
            <a:off x="685801" y="1456266"/>
            <a:ext cx="11290176" cy="5219741"/>
          </a:xfrm>
        </p:spPr>
        <p:txBody>
          <a:bodyPr/>
          <a:lstStyle/>
          <a:p>
            <a:pPr algn="just"/>
            <a:r>
              <a:rPr lang="en-IN" dirty="0">
                <a:latin typeface="Times New Roman" panose="02020603050405020304" pitchFamily="18" charset="0"/>
                <a:cs typeface="Times New Roman" panose="02020603050405020304" pitchFamily="18" charset="0"/>
              </a:rPr>
              <a:t>The difference between ML and DL include the following:</a:t>
            </a:r>
          </a:p>
          <a:p>
            <a:pPr marL="342900" indent="-342900" algn="just">
              <a:buFont typeface="+mj-lt"/>
              <a:buAutoNum type="arabicPeriod"/>
            </a:pPr>
            <a:r>
              <a:rPr lang="en-IN" u="sng" dirty="0">
                <a:latin typeface="Times New Roman" panose="02020603050405020304" pitchFamily="18" charset="0"/>
                <a:cs typeface="Times New Roman" panose="02020603050405020304" pitchFamily="18" charset="0"/>
              </a:rPr>
              <a:t>Data dependencies: </a:t>
            </a:r>
          </a:p>
          <a:p>
            <a:pPr marL="0" indent="0">
              <a:buNone/>
            </a:pPr>
            <a:r>
              <a:rPr lang="en-IN" dirty="0"/>
              <a:t>             Deep learning algorithms </a:t>
            </a:r>
            <a:r>
              <a:rPr lang="en-US" dirty="0"/>
              <a:t>do not perform as well when the data volumes are small, because deep learning algorithms require a large amount of data to understand the data perfectly. </a:t>
            </a:r>
          </a:p>
          <a:p>
            <a:pPr marL="0" indent="0">
              <a:buNone/>
            </a:pPr>
            <a:r>
              <a:rPr lang="en-US" dirty="0"/>
              <a:t>             The traditional machine-learning algorithm uses the established rules, the performance will be better.</a:t>
            </a:r>
          </a:p>
          <a:p>
            <a:pPr marL="342900" indent="-342900">
              <a:buAutoNum type="arabicPeriod" startAt="2"/>
            </a:pPr>
            <a:r>
              <a:rPr lang="en-US" u="sng" dirty="0">
                <a:latin typeface="Times New Roman" panose="02020603050405020304" pitchFamily="18" charset="0"/>
                <a:cs typeface="Times New Roman" panose="02020603050405020304" pitchFamily="18" charset="0"/>
              </a:rPr>
              <a:t>Hardware dependencies:</a:t>
            </a:r>
          </a:p>
          <a:p>
            <a:pPr marL="0" indent="0">
              <a:buNone/>
            </a:pPr>
            <a:r>
              <a:rPr lang="en-US" dirty="0">
                <a:latin typeface="Times New Roman" panose="02020603050405020304" pitchFamily="18" charset="0"/>
                <a:cs typeface="Times New Roman" panose="02020603050405020304" pitchFamily="18" charset="0"/>
              </a:rPr>
              <a:t>             </a:t>
            </a:r>
            <a:r>
              <a:rPr lang="en-IN" dirty="0"/>
              <a:t>The DL algorithm requires </a:t>
            </a:r>
            <a:r>
              <a:rPr lang="en-US" dirty="0"/>
              <a:t>many matrix operations. The GPU is largely used to optimize matrix operations efficiently. Therefore, the GPU is the hardware necessary for the DL to work properly. </a:t>
            </a:r>
          </a:p>
          <a:p>
            <a:pPr marL="0" indent="0">
              <a:buNone/>
            </a:pPr>
            <a:r>
              <a:rPr lang="en-US" dirty="0"/>
              <a:t>               DL relies more on high-performance machines with GPUs than do traditional </a:t>
            </a:r>
            <a:r>
              <a:rPr lang="en-IN" dirty="0"/>
              <a:t>machine-learning algorithms.</a:t>
            </a:r>
            <a:endParaRPr lang="en-US" u="sng" dirty="0">
              <a:latin typeface="Times New Roman" panose="02020603050405020304" pitchFamily="18" charset="0"/>
              <a:cs typeface="Times New Roman" panose="02020603050405020304" pitchFamily="18" charset="0"/>
            </a:endParaRPr>
          </a:p>
          <a:p>
            <a:pPr marL="0" indent="0">
              <a:buNone/>
            </a:pPr>
            <a:r>
              <a:rPr lang="en-US" u="sng" dirty="0">
                <a:latin typeface="Times New Roman" panose="02020603050405020304" pitchFamily="18" charset="0"/>
                <a:cs typeface="Times New Roman" panose="02020603050405020304" pitchFamily="18" charset="0"/>
              </a:rPr>
              <a:t>             </a:t>
            </a:r>
            <a:endParaRPr lang="en-US" dirty="0"/>
          </a:p>
          <a:p>
            <a:pPr marL="342900" indent="-342900">
              <a:buFont typeface="+mj-lt"/>
              <a:buAutoNum type="arabicPeriod"/>
            </a:pPr>
            <a:endParaRPr lang="en-IN" u="sng"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8524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4BC56-265C-4577-910F-C1C2573F7540}"/>
              </a:ext>
            </a:extLst>
          </p:cNvPr>
          <p:cNvSpPr>
            <a:spLocks noGrp="1"/>
          </p:cNvSpPr>
          <p:nvPr>
            <p:ph type="title"/>
          </p:nvPr>
        </p:nvSpPr>
        <p:spPr>
          <a:xfrm>
            <a:off x="13156342" y="1411549"/>
            <a:ext cx="45719" cy="457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563F9D2-33CE-4305-9E3A-BC235371EAF6}"/>
              </a:ext>
            </a:extLst>
          </p:cNvPr>
          <p:cNvSpPr>
            <a:spLocks noGrp="1"/>
          </p:cNvSpPr>
          <p:nvPr>
            <p:ph idx="1"/>
          </p:nvPr>
        </p:nvSpPr>
        <p:spPr>
          <a:xfrm>
            <a:off x="827843" y="252125"/>
            <a:ext cx="10131425" cy="6353749"/>
          </a:xfrm>
        </p:spPr>
        <p:txBody>
          <a:bodyPr/>
          <a:lstStyle/>
          <a:p>
            <a:pPr marL="0" indent="0">
              <a:buNone/>
            </a:pPr>
            <a:r>
              <a:rPr lang="en-IN" dirty="0">
                <a:latin typeface="Times New Roman" panose="02020603050405020304" pitchFamily="18" charset="0"/>
                <a:cs typeface="Times New Roman" panose="02020603050405020304" pitchFamily="18" charset="0"/>
              </a:rPr>
              <a:t>3.	</a:t>
            </a:r>
            <a:r>
              <a:rPr lang="en-IN" u="sng" dirty="0">
                <a:latin typeface="Times New Roman" panose="02020603050405020304" pitchFamily="18" charset="0"/>
                <a:cs typeface="Times New Roman" panose="02020603050405020304" pitchFamily="18" charset="0"/>
              </a:rPr>
              <a:t>Feature processing:</a:t>
            </a:r>
          </a:p>
          <a:p>
            <a:pPr marL="0" indent="0">
              <a:buNone/>
            </a:pPr>
            <a:r>
              <a:rPr lang="en-US" dirty="0"/>
              <a:t>             The performance of most ML algorithms depends upon the accuracy of the features extracted.</a:t>
            </a:r>
            <a:r>
              <a:rPr lang="en-IN" u="sng"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a:t>
            </a:r>
            <a:r>
              <a:rPr lang="en-US" dirty="0"/>
              <a:t>DL reduces the effort of designing a feature extractor for each </a:t>
            </a:r>
            <a:r>
              <a:rPr lang="en-IN" dirty="0"/>
              <a:t>problem.</a:t>
            </a:r>
            <a:r>
              <a:rPr lang="en-IN" u="sng"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4.	</a:t>
            </a:r>
            <a:r>
              <a:rPr lang="en-IN" u="sng" dirty="0">
                <a:latin typeface="Times New Roman" panose="02020603050405020304" pitchFamily="18" charset="0"/>
                <a:cs typeface="Times New Roman" panose="02020603050405020304" pitchFamily="18" charset="0"/>
              </a:rPr>
              <a:t>Problem-solving method:</a:t>
            </a:r>
          </a:p>
          <a:p>
            <a:pPr marL="0" indent="0">
              <a:buNone/>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machine</a:t>
            </a:r>
            <a:r>
              <a:rPr lang="en-US" dirty="0"/>
              <a:t> learning usually breaks down the problem into multiple sub-problems and solves the sub-problems, ultimately obtaining the final result. </a:t>
            </a:r>
          </a:p>
          <a:p>
            <a:pPr marL="0" indent="0">
              <a:buNone/>
            </a:pPr>
            <a:r>
              <a:rPr lang="en-US" dirty="0"/>
              <a:t>             In contrast, deep learning advocates </a:t>
            </a:r>
            <a:r>
              <a:rPr lang="en-IN" dirty="0"/>
              <a:t>direct end-to-end problem solving.</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5.	</a:t>
            </a:r>
            <a:r>
              <a:rPr lang="en-IN" u="sng" dirty="0">
                <a:latin typeface="Times New Roman" panose="02020603050405020304" pitchFamily="18" charset="0"/>
                <a:cs typeface="Times New Roman" panose="02020603050405020304" pitchFamily="18" charset="0"/>
              </a:rPr>
              <a:t>Execution time:</a:t>
            </a:r>
          </a:p>
          <a:p>
            <a:pPr marL="0" indent="0">
              <a:buNone/>
            </a:pPr>
            <a:r>
              <a:rPr lang="en-IN" dirty="0">
                <a:latin typeface="Times New Roman" panose="02020603050405020304" pitchFamily="18" charset="0"/>
                <a:cs typeface="Times New Roman" panose="02020603050405020304" pitchFamily="18" charset="0"/>
              </a:rPr>
              <a:t>	     </a:t>
            </a:r>
            <a:r>
              <a:rPr lang="en-US" dirty="0"/>
              <a:t> deep learning algorithm takes a long time to train.</a:t>
            </a:r>
          </a:p>
          <a:p>
            <a:pPr marL="0" indent="0">
              <a:buNone/>
            </a:pPr>
            <a:r>
              <a:rPr lang="en-US" dirty="0">
                <a:latin typeface="Times New Roman" panose="02020603050405020304" pitchFamily="18" charset="0"/>
                <a:cs typeface="Times New Roman" panose="02020603050405020304" pitchFamily="18" charset="0"/>
              </a:rPr>
              <a:t>	      machine learning algorithm takes short test time.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6760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2B3D-DA7D-4905-984D-625FC8936C8F}"/>
              </a:ext>
            </a:extLst>
          </p:cNvPr>
          <p:cNvSpPr>
            <a:spLocks noGrp="1"/>
          </p:cNvSpPr>
          <p:nvPr>
            <p:ph type="title"/>
          </p:nvPr>
        </p:nvSpPr>
        <p:spPr>
          <a:xfrm>
            <a:off x="685801" y="141879"/>
            <a:ext cx="10131425" cy="1456267"/>
          </a:xfrm>
        </p:spPr>
        <p:txBody>
          <a:bodyPr/>
          <a:lstStyle/>
          <a:p>
            <a:r>
              <a:rPr lang="en-IN" b="1" u="sng" dirty="0">
                <a:latin typeface="Times New Roman" panose="02020603050405020304" pitchFamily="18" charset="0"/>
                <a:cs typeface="Times New Roman" panose="02020603050405020304" pitchFamily="18" charset="0"/>
              </a:rPr>
              <a:t>Network security data set:</a:t>
            </a:r>
          </a:p>
        </p:txBody>
      </p:sp>
      <p:sp>
        <p:nvSpPr>
          <p:cNvPr id="3" name="Content Placeholder 2">
            <a:extLst>
              <a:ext uri="{FF2B5EF4-FFF2-40B4-BE49-F238E27FC236}">
                <a16:creationId xmlns:a16="http://schemas.microsoft.com/office/drawing/2014/main" id="{C82C6C87-24C5-4705-A8AC-8124E304D8B3}"/>
              </a:ext>
            </a:extLst>
          </p:cNvPr>
          <p:cNvSpPr>
            <a:spLocks noGrp="1"/>
          </p:cNvSpPr>
          <p:nvPr>
            <p:ph idx="1"/>
          </p:nvPr>
        </p:nvSpPr>
        <p:spPr>
          <a:xfrm>
            <a:off x="685801" y="870013"/>
            <a:ext cx="10131425" cy="5726096"/>
          </a:xfrm>
        </p:spPr>
        <p:txBody>
          <a:bodyPr>
            <a:normAutofit/>
          </a:bodyPr>
          <a:lstStyle/>
          <a:p>
            <a:r>
              <a:rPr lang="en-US" dirty="0"/>
              <a:t>Data constitute the basis of computer network security research. The size of the dataset also affects the training effects of the ML and DL models. </a:t>
            </a:r>
          </a:p>
          <a:p>
            <a:r>
              <a:rPr lang="en-US" dirty="0"/>
              <a:t>Computer network security data can usually be obtained in two ways: 1) directly and 2) using an existing public dataset.</a:t>
            </a:r>
          </a:p>
          <a:p>
            <a:pPr marL="342900" indent="-342900">
              <a:buFont typeface="+mj-lt"/>
              <a:buAutoNum type="arabicPeriod"/>
            </a:pPr>
            <a:r>
              <a:rPr lang="en-US" dirty="0"/>
              <a:t> Direct access is the use of various means of direct collection of the required cyber data. This approach is highly targeted and suitable for collecting short-term or small amounts of data, but for long-term or large amounts of data, acquisition time and storage costs will escalate. </a:t>
            </a:r>
          </a:p>
          <a:p>
            <a:pPr marL="342900" indent="-342900">
              <a:buFont typeface="+mj-lt"/>
              <a:buAutoNum type="arabicPeriod"/>
            </a:pPr>
            <a:r>
              <a:rPr lang="en-US" dirty="0"/>
              <a:t>The use of existing network security datasets can save data collection time and increase the efficiency of research by quickly obtaining the various data required for research. </a:t>
            </a:r>
            <a:endParaRPr lang="en-IN" dirty="0"/>
          </a:p>
        </p:txBody>
      </p:sp>
    </p:spTree>
    <p:extLst>
      <p:ext uri="{BB962C8B-B14F-4D97-AF65-F5344CB8AC3E}">
        <p14:creationId xmlns:p14="http://schemas.microsoft.com/office/powerpoint/2010/main" val="3108080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F09B9-B0F2-432F-89EB-D9168857A380}"/>
              </a:ext>
            </a:extLst>
          </p:cNvPr>
          <p:cNvSpPr>
            <a:spLocks noGrp="1"/>
          </p:cNvSpPr>
          <p:nvPr>
            <p:ph type="title"/>
          </p:nvPr>
        </p:nvSpPr>
        <p:spPr>
          <a:xfrm>
            <a:off x="179773" y="0"/>
            <a:ext cx="10131425" cy="1456267"/>
          </a:xfrm>
        </p:spPr>
        <p:txBody>
          <a:bodyPr/>
          <a:lstStyle/>
          <a:p>
            <a:r>
              <a:rPr lang="en-IN" b="1" u="sng" dirty="0">
                <a:latin typeface="Times New Roman" panose="02020603050405020304" pitchFamily="18" charset="0"/>
                <a:cs typeface="Times New Roman" panose="02020603050405020304" pitchFamily="18" charset="0"/>
              </a:rPr>
              <a:t>Types of network security data set:</a:t>
            </a:r>
            <a:br>
              <a:rPr lang="en-IN" b="1" u="sng" dirty="0">
                <a:latin typeface="Times New Roman" panose="02020603050405020304" pitchFamily="18" charset="0"/>
                <a:cs typeface="Times New Roman" panose="02020603050405020304" pitchFamily="18" charset="0"/>
              </a:rPr>
            </a:b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090A58-E2D9-4EF6-A2FE-8FD46A4BC575}"/>
              </a:ext>
            </a:extLst>
          </p:cNvPr>
          <p:cNvSpPr>
            <a:spLocks noGrp="1"/>
          </p:cNvSpPr>
          <p:nvPr>
            <p:ph idx="1"/>
          </p:nvPr>
        </p:nvSpPr>
        <p:spPr>
          <a:xfrm>
            <a:off x="106533" y="967667"/>
            <a:ext cx="11993732" cy="5761608"/>
          </a:xfrm>
        </p:spPr>
        <p:txBody>
          <a:bodyPr>
            <a:normAutofit/>
          </a:bodyPr>
          <a:lstStyle/>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DARPA INTRUSION DETECTION DATA SETS:</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dataset provides a large amount of background traffic data and attack data. It can be downloaded </a:t>
            </a:r>
            <a:r>
              <a:rPr lang="en-IN" sz="1600" dirty="0">
                <a:latin typeface="Times New Roman" panose="02020603050405020304" pitchFamily="18" charset="0"/>
                <a:cs typeface="Times New Roman" panose="02020603050405020304" pitchFamily="18" charset="0"/>
              </a:rPr>
              <a:t>directly from the website.</a:t>
            </a:r>
          </a:p>
          <a:p>
            <a:pPr marL="0" indent="0" algn="just">
              <a:buNone/>
            </a:pPr>
            <a:r>
              <a:rPr lang="en-IN" sz="1600" dirty="0">
                <a:latin typeface="Times New Roman" panose="02020603050405020304" pitchFamily="18" charset="0"/>
                <a:cs typeface="Times New Roman" panose="02020603050405020304" pitchFamily="18" charset="0"/>
              </a:rPr>
              <a:t>2.    KDD CUP 99 DATASET:</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KDD Cup 99 dataset  is one of the most widely used training sets; it is based on the DARPA 1998 dataset.</a:t>
            </a:r>
          </a:p>
          <a:p>
            <a:pPr marL="342900" indent="-342900" algn="just">
              <a:buAutoNum type="arabicPeriod" startAt="3"/>
            </a:pPr>
            <a:r>
              <a:rPr lang="en-US" sz="1600" dirty="0">
                <a:latin typeface="Times New Roman" panose="02020603050405020304" pitchFamily="18" charset="0"/>
                <a:cs typeface="Times New Roman" panose="02020603050405020304" pitchFamily="18" charset="0"/>
              </a:rPr>
              <a:t>NSL-KDD DATASET:</a:t>
            </a:r>
            <a:endParaRPr lang="en-IN"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	The NSL-KDD dataset is a new version of the </a:t>
            </a:r>
            <a:r>
              <a:rPr lang="en-IN" sz="1600" dirty="0">
                <a:latin typeface="Times New Roman" panose="02020603050405020304" pitchFamily="18" charset="0"/>
                <a:cs typeface="Times New Roman" panose="02020603050405020304" pitchFamily="18" charset="0"/>
              </a:rPr>
              <a:t>KDD Cup 99 dataset. The NSL-KDD dataset improves </a:t>
            </a:r>
            <a:r>
              <a:rPr lang="en-US" sz="1600" dirty="0">
                <a:latin typeface="Times New Roman" panose="02020603050405020304" pitchFamily="18" charset="0"/>
                <a:cs typeface="Times New Roman" panose="02020603050405020304" pitchFamily="18" charset="0"/>
              </a:rPr>
              <a:t>some of the limitations of the KDD Cup 99 dataset.</a:t>
            </a:r>
          </a:p>
          <a:p>
            <a:pPr marL="0" indent="0" algn="just">
              <a:buNone/>
            </a:pP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This model identifies features </a:t>
            </a:r>
            <a:r>
              <a:rPr lang="en-US" sz="1600" dirty="0">
                <a:latin typeface="Times New Roman" panose="02020603050405020304" pitchFamily="18" charset="0"/>
                <a:cs typeface="Times New Roman" panose="02020603050405020304" pitchFamily="18" charset="0"/>
              </a:rPr>
              <a:t>between intrusive and normal connections for building network intrusion detectors. In the NSL-KDD dataset, each instance has the characteristics of a type of network data.</a:t>
            </a:r>
          </a:p>
          <a:p>
            <a:pPr marL="342900" indent="-342900" algn="just">
              <a:buAutoNum type="arabicPeriod" startAt="4"/>
            </a:pPr>
            <a:r>
              <a:rPr lang="en-US" sz="1600" dirty="0">
                <a:latin typeface="Times New Roman" panose="02020603050405020304" pitchFamily="18" charset="0"/>
                <a:cs typeface="Times New Roman" panose="02020603050405020304" pitchFamily="18" charset="0"/>
              </a:rPr>
              <a:t>ADFA DATASET:</a:t>
            </a:r>
          </a:p>
          <a:p>
            <a:pPr algn="just"/>
            <a:r>
              <a:rPr lang="en-US" sz="1600" dirty="0">
                <a:latin typeface="Times New Roman" panose="02020603050405020304" pitchFamily="18" charset="0"/>
                <a:cs typeface="Times New Roman" panose="02020603050405020304" pitchFamily="18" charset="0"/>
              </a:rPr>
              <a:t>	The ADFA data set is a set of data sets of host level </a:t>
            </a:r>
            <a:r>
              <a:rPr lang="en-IN" sz="1600" dirty="0">
                <a:latin typeface="Times New Roman" panose="02020603050405020304" pitchFamily="18" charset="0"/>
                <a:cs typeface="Times New Roman" panose="02020603050405020304" pitchFamily="18" charset="0"/>
              </a:rPr>
              <a:t>intrusion detection system,</a:t>
            </a:r>
            <a:r>
              <a:rPr lang="en-US" sz="1600" dirty="0">
                <a:latin typeface="Times New Roman" panose="02020603050405020304" pitchFamily="18" charset="0"/>
                <a:cs typeface="Times New Roman" panose="02020603050405020304" pitchFamily="18" charset="0"/>
              </a:rPr>
              <a:t> which is widely used in the testing </a:t>
            </a:r>
            <a:r>
              <a:rPr lang="en-IN" sz="1600" dirty="0">
                <a:latin typeface="Times New Roman" panose="02020603050405020304" pitchFamily="18" charset="0"/>
                <a:cs typeface="Times New Roman" panose="02020603050405020304" pitchFamily="18" charset="0"/>
              </a:rPr>
              <a:t>of intrusion detection products.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40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FE0FA-7022-4EAF-A3D4-93E4999678E9}"/>
              </a:ext>
            </a:extLst>
          </p:cNvPr>
          <p:cNvSpPr>
            <a:spLocks noGrp="1"/>
          </p:cNvSpPr>
          <p:nvPr>
            <p:ph type="title"/>
          </p:nvPr>
        </p:nvSpPr>
        <p:spPr>
          <a:xfrm>
            <a:off x="685800" y="-260412"/>
            <a:ext cx="10131425" cy="1456267"/>
          </a:xfrm>
        </p:spPr>
        <p:txBody>
          <a:bodyPr/>
          <a:lstStyle/>
          <a:p>
            <a:r>
              <a:rPr lang="en-IN" b="1" u="sng"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25EB4CB-B4E8-4744-AF9E-67777DC03131}"/>
              </a:ext>
            </a:extLst>
          </p:cNvPr>
          <p:cNvSpPr>
            <a:spLocks noGrp="1"/>
          </p:cNvSpPr>
          <p:nvPr>
            <p:ph idx="1"/>
          </p:nvPr>
        </p:nvSpPr>
        <p:spPr>
          <a:xfrm>
            <a:off x="685801" y="896645"/>
            <a:ext cx="10131425" cy="5877017"/>
          </a:xfrm>
        </p:spPr>
        <p:txBody>
          <a:bodyPr/>
          <a:lstStyle/>
          <a:p>
            <a:r>
              <a:rPr lang="en-US" dirty="0"/>
              <a:t>A network security system consists of a network security system and a computer security system i.e.,</a:t>
            </a:r>
            <a:r>
              <a:rPr lang="en-IN" dirty="0"/>
              <a:t> firewalls, antivirus software.</a:t>
            </a:r>
          </a:p>
          <a:p>
            <a:r>
              <a:rPr lang="en-IN" b="1" u="sng" dirty="0">
                <a:latin typeface="Times New Roman" panose="02020603050405020304" pitchFamily="18" charset="0"/>
                <a:cs typeface="Times New Roman" panose="02020603050405020304" pitchFamily="18" charset="0"/>
              </a:rPr>
              <a:t>FIREWALL :</a:t>
            </a:r>
          </a:p>
          <a:p>
            <a:pPr marL="0" indent="0">
              <a:buNone/>
            </a:pPr>
            <a:r>
              <a:rPr lang="en-US" dirty="0"/>
              <a:t>A firewall is a network security device, either hardware or software-based, which monitors all incoming and outgoing traffic and based on a defined set of security rules it accepts, rejects or drops that specific traffic.</a:t>
            </a:r>
          </a:p>
          <a:p>
            <a:pPr marL="0" indent="0">
              <a:buNone/>
            </a:pPr>
            <a:r>
              <a:rPr lang="en-US" b="1" dirty="0"/>
              <a:t>Accept :</a:t>
            </a:r>
            <a:r>
              <a:rPr lang="en-US" dirty="0"/>
              <a:t> allow the traffic</a:t>
            </a:r>
            <a:br>
              <a:rPr lang="en-US" dirty="0"/>
            </a:br>
            <a:r>
              <a:rPr lang="en-US" b="1" dirty="0"/>
              <a:t>Reject :</a:t>
            </a:r>
            <a:r>
              <a:rPr lang="en-US" dirty="0"/>
              <a:t> block the traffic but reply with an “unreachable error”</a:t>
            </a:r>
            <a:br>
              <a:rPr lang="en-US" dirty="0"/>
            </a:br>
            <a:r>
              <a:rPr lang="en-US" b="1" dirty="0"/>
              <a:t>Drop : </a:t>
            </a:r>
            <a:r>
              <a:rPr lang="en-US" dirty="0"/>
              <a:t>block the traffic with no reply</a:t>
            </a:r>
          </a:p>
          <a:p>
            <a:pPr marL="0" indent="0">
              <a:buNone/>
            </a:pPr>
            <a:endParaRPr lang="en-US" dirty="0"/>
          </a:p>
          <a:p>
            <a:pPr marL="0" indent="0">
              <a:buNone/>
            </a:pPr>
            <a:r>
              <a:rPr lang="en-US" dirty="0"/>
              <a:t>Most traffic which reaches on the firewall is one of these three major Transport Layer protocols- TCP, UDP or ICMP</a:t>
            </a: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8067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0363-3BDF-462D-BF12-3E8777E9DBF7}"/>
              </a:ext>
            </a:extLst>
          </p:cNvPr>
          <p:cNvSpPr>
            <a:spLocks noGrp="1"/>
          </p:cNvSpPr>
          <p:nvPr>
            <p:ph type="title"/>
          </p:nvPr>
        </p:nvSpPr>
        <p:spPr>
          <a:xfrm>
            <a:off x="-983201" y="685800"/>
            <a:ext cx="290743" cy="68801"/>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49F1E0BF-D6CE-4833-AC8C-F1455EF1C47B}"/>
              </a:ext>
            </a:extLst>
          </p:cNvPr>
          <p:cNvSpPr>
            <a:spLocks noGrp="1"/>
          </p:cNvSpPr>
          <p:nvPr>
            <p:ph idx="1"/>
          </p:nvPr>
        </p:nvSpPr>
        <p:spPr>
          <a:xfrm>
            <a:off x="685801" y="133165"/>
            <a:ext cx="10131425" cy="6724835"/>
          </a:xfrm>
        </p:spPr>
        <p:txBody>
          <a:bodyPr/>
          <a:lstStyle/>
          <a:p>
            <a:r>
              <a:rPr lang="en-IN" b="1" u="sng" dirty="0">
                <a:latin typeface="Times New Roman" panose="02020603050405020304" pitchFamily="18" charset="0"/>
                <a:cs typeface="Times New Roman" panose="02020603050405020304" pitchFamily="18" charset="0"/>
              </a:rPr>
              <a:t>ANTIVIRUS SOFTWARE:</a:t>
            </a:r>
          </a:p>
          <a:p>
            <a:pPr marL="0" indent="0">
              <a:buNone/>
            </a:pPr>
            <a:r>
              <a:rPr lang="en-US" dirty="0">
                <a:latin typeface="Times New Roman" panose="02020603050405020304" pitchFamily="18" charset="0"/>
                <a:cs typeface="Times New Roman" panose="02020603050405020304" pitchFamily="18" charset="0"/>
              </a:rPr>
              <a:t>Antivirus software is a class of program designed to prevent, detect and remove malware infections on individual computing devices, networks and IT systems.</a:t>
            </a:r>
          </a:p>
          <a:p>
            <a:pPr marL="0" indent="0">
              <a:buNone/>
            </a:pPr>
            <a:r>
              <a:rPr lang="en-US" dirty="0"/>
              <a:t>Antivirus software, originally designed to detect and remove viruses from computers, can also protect against a wide variety of threats, including other types of malicious software, such as  keyloggers, browser hijackers, Trojan horses, worms, rootkits, spyware, adware, botnets and ransomware.</a:t>
            </a:r>
          </a:p>
          <a:p>
            <a:r>
              <a:rPr lang="en-IN" b="1" dirty="0"/>
              <a:t>How antivirus software works :</a:t>
            </a:r>
          </a:p>
          <a:p>
            <a:pPr marL="342900" indent="-342900">
              <a:buFont typeface="+mj-lt"/>
              <a:buAutoNum type="arabicPeriod"/>
            </a:pPr>
            <a:r>
              <a:rPr lang="en-US" dirty="0"/>
              <a:t>Antivirus software usually performs these basic functions:</a:t>
            </a:r>
          </a:p>
          <a:p>
            <a:pPr marL="0" indent="0">
              <a:buNone/>
            </a:pPr>
            <a:r>
              <a:rPr lang="en-US" dirty="0"/>
              <a:t>2.   Scanning directories or specific files for known malicious patterns indicating the presence of malicious software;</a:t>
            </a:r>
          </a:p>
          <a:p>
            <a:pPr marL="0" indent="0">
              <a:buNone/>
            </a:pPr>
            <a:r>
              <a:rPr lang="en-US" dirty="0"/>
              <a:t>3.   Allowing users to schedule scans so they run automatically;</a:t>
            </a:r>
          </a:p>
          <a:p>
            <a:pPr marL="0" indent="0">
              <a:buNone/>
            </a:pPr>
            <a:r>
              <a:rPr lang="en-US" dirty="0"/>
              <a:t>4.   Allowing users to initiate new scans at any time; and</a:t>
            </a:r>
          </a:p>
          <a:p>
            <a:pPr marL="0" indent="0">
              <a:buNone/>
            </a:pPr>
            <a:r>
              <a:rPr lang="en-US" dirty="0"/>
              <a:t>5.   Removing any malicious software it detects. Some antivirus software programs do this automatically in the background, while others notify users of infections and ask them if they want to clean the files.</a:t>
            </a:r>
          </a:p>
          <a:p>
            <a:pPr marL="0" indent="0">
              <a:buNone/>
            </a:pPr>
            <a:br>
              <a:rPr lang="en-US" dirty="0"/>
            </a:br>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983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BBCC-3A98-4933-A971-A04D1777A224}"/>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229F0C72-14D6-44E1-A29E-B9C3645D1D36}"/>
              </a:ext>
            </a:extLst>
          </p:cNvPr>
          <p:cNvSpPr>
            <a:spLocks noGrp="1"/>
          </p:cNvSpPr>
          <p:nvPr>
            <p:ph idx="1"/>
          </p:nvPr>
        </p:nvSpPr>
        <p:spPr/>
        <p:txBody>
          <a:bodyPr/>
          <a:lstStyle/>
          <a:p>
            <a:r>
              <a:rPr lang="en-US" b="1" u="sng" dirty="0"/>
              <a:t>Disadvantages of Using a Firewall:</a:t>
            </a:r>
          </a:p>
          <a:p>
            <a:pPr marL="342900" indent="-342900">
              <a:buFont typeface="+mj-lt"/>
              <a:buAutoNum type="arabicPeriod"/>
            </a:pPr>
            <a:r>
              <a:rPr lang="en-US" dirty="0"/>
              <a:t>Firewalls cannot protect a network or pc from viruses, Trojans, worms and spyware which spread through flash drives, potable hard disk and floppy etc.</a:t>
            </a:r>
          </a:p>
          <a:p>
            <a:pPr marL="342900" indent="-342900">
              <a:buFont typeface="+mj-lt"/>
              <a:buAutoNum type="arabicPeriod"/>
            </a:pPr>
            <a:r>
              <a:rPr lang="en-US" dirty="0"/>
              <a:t>They may restrict authorized users from accessing valuable services.</a:t>
            </a:r>
          </a:p>
          <a:p>
            <a:pPr marL="342900" indent="-342900">
              <a:buFont typeface="+mj-lt"/>
              <a:buAutoNum type="arabicPeriod"/>
            </a:pPr>
            <a:r>
              <a:rPr lang="en-US" dirty="0"/>
              <a:t>it cannot protect the network from attacks from the inside.</a:t>
            </a:r>
            <a:endParaRPr lang="en-US" b="1" u="sng" dirty="0"/>
          </a:p>
          <a:p>
            <a:endParaRPr lang="en-IN" dirty="0"/>
          </a:p>
        </p:txBody>
      </p:sp>
    </p:spTree>
    <p:extLst>
      <p:ext uri="{BB962C8B-B14F-4D97-AF65-F5344CB8AC3E}">
        <p14:creationId xmlns:p14="http://schemas.microsoft.com/office/powerpoint/2010/main" val="1824358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E469-0A29-45F6-8E44-FB23E08DD254}"/>
              </a:ext>
            </a:extLst>
          </p:cNvPr>
          <p:cNvSpPr>
            <a:spLocks noGrp="1"/>
          </p:cNvSpPr>
          <p:nvPr>
            <p:ph type="title"/>
          </p:nvPr>
        </p:nvSpPr>
        <p:spPr>
          <a:xfrm>
            <a:off x="1209583" y="1222159"/>
            <a:ext cx="10131425" cy="5382827"/>
          </a:xfrm>
        </p:spPr>
        <p:txBody>
          <a:bodyPr>
            <a:normAutofit/>
          </a:bodyPr>
          <a:lstStyle/>
          <a:p>
            <a:pPr marL="285750" indent="-285750">
              <a:buFont typeface="Arial" panose="020B0604020202020204" pitchFamily="34" charset="0"/>
              <a:buChar char="•"/>
            </a:pPr>
            <a:r>
              <a:rPr lang="en-IN" sz="1800" b="1" u="sng" dirty="0">
                <a:latin typeface="Times New Roman" panose="02020603050405020304" pitchFamily="18" charset="0"/>
                <a:cs typeface="Times New Roman" panose="02020603050405020304" pitchFamily="18" charset="0"/>
              </a:rPr>
              <a:t>DISADVANTAGES OF ANTIVIRUS:</a:t>
            </a:r>
            <a:br>
              <a:rPr lang="en-IN" sz="1800" b="1" u="sng"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1. Limited Detection Techniques</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 </a:t>
            </a:r>
            <a:r>
              <a:rPr lang="en-US" sz="1800" dirty="0">
                <a:latin typeface="Times New Roman" panose="02020603050405020304" pitchFamily="18" charset="0"/>
                <a:cs typeface="Times New Roman" panose="02020603050405020304" pitchFamily="18" charset="0"/>
              </a:rPr>
              <a:t>Slows Down PC or Network</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3. </a:t>
            </a:r>
            <a:r>
              <a:rPr lang="en-IN" sz="2000" dirty="0">
                <a:latin typeface="Times New Roman" panose="02020603050405020304" pitchFamily="18" charset="0"/>
                <a:cs typeface="Times New Roman" panose="02020603050405020304" pitchFamily="18" charset="0"/>
              </a:rPr>
              <a:t>Doesn’t Fully Protect</a:t>
            </a:r>
            <a:br>
              <a:rPr lang="en-IN" dirty="0"/>
            </a:br>
            <a:br>
              <a:rPr lang="en-US" dirty="0"/>
            </a:br>
            <a:br>
              <a:rPr lang="en-IN" dirty="0"/>
            </a:br>
            <a:br>
              <a:rPr lang="en-IN" sz="1800" b="1" u="sng"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br>
              <a:rPr lang="en-IN" sz="1800" b="1" u="sng" dirty="0">
                <a:latin typeface="Times New Roman" panose="02020603050405020304" pitchFamily="18" charset="0"/>
                <a:cs typeface="Times New Roman" panose="02020603050405020304" pitchFamily="18" charset="0"/>
              </a:rPr>
            </a:br>
            <a:endParaRPr lang="en-IN" sz="18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255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B2B0-8493-4567-95AD-F28A9102BF58}"/>
              </a:ext>
            </a:extLst>
          </p:cNvPr>
          <p:cNvSpPr>
            <a:spLocks noGrp="1"/>
          </p:cNvSpPr>
          <p:nvPr>
            <p:ph type="title"/>
          </p:nvPr>
        </p:nvSpPr>
        <p:spPr>
          <a:xfrm>
            <a:off x="227860" y="-278168"/>
            <a:ext cx="11736280" cy="1456267"/>
          </a:xfrm>
        </p:spPr>
        <p:txBody>
          <a:bodyPr/>
          <a:lstStyle/>
          <a:p>
            <a:r>
              <a:rPr lang="en-IN" b="1" u="sng" dirty="0">
                <a:latin typeface="Times New Roman" panose="02020603050405020304" pitchFamily="18" charset="0"/>
                <a:cs typeface="Times New Roman" panose="02020603050405020304" pitchFamily="18" charset="0"/>
              </a:rPr>
              <a:t>NEW SYSTEM:DESIGN AND IMPLEMENTATION:</a:t>
            </a:r>
          </a:p>
        </p:txBody>
      </p:sp>
      <p:sp>
        <p:nvSpPr>
          <p:cNvPr id="3" name="Content Placeholder 2">
            <a:extLst>
              <a:ext uri="{FF2B5EF4-FFF2-40B4-BE49-F238E27FC236}">
                <a16:creationId xmlns:a16="http://schemas.microsoft.com/office/drawing/2014/main" id="{185021FF-0672-49D3-B02F-6E7B5AA2B201}"/>
              </a:ext>
            </a:extLst>
          </p:cNvPr>
          <p:cNvSpPr>
            <a:spLocks noGrp="1"/>
          </p:cNvSpPr>
          <p:nvPr>
            <p:ph idx="1"/>
          </p:nvPr>
        </p:nvSpPr>
        <p:spPr>
          <a:xfrm>
            <a:off x="227860" y="958788"/>
            <a:ext cx="11736279" cy="5779363"/>
          </a:xfrm>
        </p:spPr>
        <p:txBody>
          <a:bodyPr/>
          <a:lstStyle/>
          <a:p>
            <a:r>
              <a:rPr lang="en-IN" b="1" u="sng" dirty="0">
                <a:latin typeface="Times New Roman" panose="02020603050405020304" pitchFamily="18" charset="0"/>
                <a:cs typeface="Times New Roman" panose="02020603050405020304" pitchFamily="18" charset="0"/>
              </a:rPr>
              <a:t>ML AND DL ALGORITHM FOR CYBERSECRITY:</a:t>
            </a:r>
          </a:p>
          <a:p>
            <a:pPr marL="0" indent="0">
              <a:buNone/>
            </a:pPr>
            <a:r>
              <a:rPr lang="en-US" dirty="0"/>
              <a:t>This section is divided into two parts i.e.</a:t>
            </a:r>
          </a:p>
          <a:p>
            <a:pPr marL="342900" indent="-342900">
              <a:buFont typeface="+mj-lt"/>
              <a:buAutoNum type="alphaLcPeriod"/>
            </a:pPr>
            <a:r>
              <a:rPr lang="en-US" dirty="0">
                <a:latin typeface="Times New Roman" panose="02020603050405020304" pitchFamily="18" charset="0"/>
                <a:cs typeface="Times New Roman" panose="02020603050405020304" pitchFamily="18" charset="0"/>
              </a:rPr>
              <a:t>Traditional machine-learning algorithms in network security</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K-</a:t>
            </a:r>
            <a:r>
              <a:rPr lang="en-US" dirty="0" err="1">
                <a:latin typeface="Times New Roman" panose="02020603050405020304" pitchFamily="18" charset="0"/>
                <a:cs typeface="Times New Roman" panose="02020603050405020304" pitchFamily="18" charset="0"/>
              </a:rPr>
              <a:t>Nearestneighbor</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ii). Decision Tree</a:t>
            </a:r>
          </a:p>
          <a:p>
            <a:pPr marL="342900" indent="-342900">
              <a:buAutoNum type="alphaLcPeriod" startAt="2"/>
            </a:pPr>
            <a:r>
              <a:rPr lang="en-US" dirty="0">
                <a:latin typeface="Times New Roman" panose="02020603050405020304" pitchFamily="18" charset="0"/>
                <a:cs typeface="Times New Roman" panose="02020603050405020304" pitchFamily="18" charset="0"/>
              </a:rPr>
              <a:t>Deep learning in the field of cybersecurity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Deep belief network</a:t>
            </a:r>
          </a:p>
          <a:p>
            <a:pPr marL="0" indent="0">
              <a:buNone/>
            </a:pPr>
            <a:r>
              <a:rPr lang="en-US" dirty="0">
                <a:latin typeface="Times New Roman" panose="02020603050405020304" pitchFamily="18" charset="0"/>
                <a:cs typeface="Times New Roman" panose="02020603050405020304" pitchFamily="18" charset="0"/>
              </a:rPr>
              <a:t>       ii). Recurrent neural networks</a:t>
            </a:r>
          </a:p>
          <a:p>
            <a:pPr marL="0" indent="0">
              <a:buNone/>
            </a:pPr>
            <a:r>
              <a:rPr lang="en-US" dirty="0">
                <a:latin typeface="Times New Roman" panose="02020603050405020304" pitchFamily="18" charset="0"/>
                <a:cs typeface="Times New Roman" panose="02020603050405020304" pitchFamily="18" charset="0"/>
              </a:rPr>
              <a:t>      iii). Convolutional neural networks</a:t>
            </a:r>
            <a:endParaRPr lang="en-IN"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13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CD46-1AB9-4FCD-B73F-4733B08C925A}"/>
              </a:ext>
            </a:extLst>
          </p:cNvPr>
          <p:cNvSpPr>
            <a:spLocks noGrp="1"/>
          </p:cNvSpPr>
          <p:nvPr>
            <p:ph type="title"/>
          </p:nvPr>
        </p:nvSpPr>
        <p:spPr>
          <a:xfrm>
            <a:off x="12384349" y="1047565"/>
            <a:ext cx="332698" cy="6051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8A9DB06-DF47-4084-8E92-E9E6D0F36A11}"/>
              </a:ext>
            </a:extLst>
          </p:cNvPr>
          <p:cNvSpPr>
            <a:spLocks noGrp="1"/>
          </p:cNvSpPr>
          <p:nvPr>
            <p:ph idx="1"/>
          </p:nvPr>
        </p:nvSpPr>
        <p:spPr>
          <a:xfrm>
            <a:off x="133165" y="142043"/>
            <a:ext cx="11904955" cy="6491205"/>
          </a:xfrm>
        </p:spPr>
        <p:txBody>
          <a:bodyPr/>
          <a:lstStyle/>
          <a:p>
            <a:pPr marL="400050" indent="-400050">
              <a:buFont typeface="+mj-lt"/>
              <a:buAutoNum type="romanLcPeriod"/>
            </a:pPr>
            <a:r>
              <a:rPr lang="en-IN" b="1" u="sng" dirty="0">
                <a:latin typeface="Times New Roman" panose="02020603050405020304" pitchFamily="18" charset="0"/>
                <a:cs typeface="Times New Roman" panose="02020603050405020304" pitchFamily="18" charset="0"/>
              </a:rPr>
              <a:t>K-NEARESTNEIGHBOR:</a:t>
            </a:r>
          </a:p>
          <a:p>
            <a:r>
              <a:rPr lang="en-US" dirty="0"/>
              <a:t>The </a:t>
            </a:r>
            <a:r>
              <a:rPr lang="en-US" dirty="0" err="1"/>
              <a:t>kNN</a:t>
            </a:r>
            <a:r>
              <a:rPr lang="en-US" dirty="0"/>
              <a:t> classier is based on a distance function that measures the difference or similarity between two instances. The standard Euclidean distance d(x, y) between two instances x and y is defined as:</a:t>
            </a:r>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r>
              <a:rPr lang="en-US" dirty="0"/>
              <a:t>KNN are used for classification and can be used for multi-class problems. However, both their training and test phase are computationally demanding as to classify each test sample, they compare it against all the training samples.</a:t>
            </a:r>
          </a:p>
          <a:p>
            <a:pPr marL="0" indent="0">
              <a:buNone/>
            </a:pPr>
            <a:r>
              <a:rPr lang="en-IN" b="1" dirty="0">
                <a:latin typeface="Times New Roman" panose="02020603050405020304" pitchFamily="18" charset="0"/>
                <a:cs typeface="Times New Roman" panose="02020603050405020304" pitchFamily="18" charset="0"/>
              </a:rPr>
              <a:t>ii.  </a:t>
            </a:r>
            <a:r>
              <a:rPr lang="en-IN" b="1" u="sng" dirty="0">
                <a:latin typeface="Times New Roman" panose="02020603050405020304" pitchFamily="18" charset="0"/>
                <a:cs typeface="Times New Roman" panose="02020603050405020304" pitchFamily="18" charset="0"/>
              </a:rPr>
              <a:t>DECISION TREE:</a:t>
            </a:r>
          </a:p>
          <a:p>
            <a:r>
              <a:rPr lang="en-US" dirty="0"/>
              <a:t>A decision tree is a tree structure in which each internal node represents a test on one property and each branch represents a test output, with each leaf node representing a category.</a:t>
            </a:r>
          </a:p>
          <a:p>
            <a:r>
              <a:rPr lang="en-US" dirty="0"/>
              <a:t>In machine learning, the decision tree is a predictive model; it represents a mapping between object attributes and object value.</a:t>
            </a:r>
            <a:endParaRPr lang="en-IN"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a:p>
            <a:endParaRPr lang="en-US" dirty="0"/>
          </a:p>
        </p:txBody>
      </p:sp>
      <p:pic>
        <p:nvPicPr>
          <p:cNvPr id="7" name="Picture 6">
            <a:extLst>
              <a:ext uri="{FF2B5EF4-FFF2-40B4-BE49-F238E27FC236}">
                <a16:creationId xmlns:a16="http://schemas.microsoft.com/office/drawing/2014/main" id="{F4EEDDCD-D6CB-4C43-B3A8-8C6090268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927" y="1433064"/>
            <a:ext cx="2019475" cy="1013548"/>
          </a:xfrm>
          <a:prstGeom prst="rect">
            <a:avLst/>
          </a:prstGeom>
        </p:spPr>
      </p:pic>
    </p:spTree>
    <p:extLst>
      <p:ext uri="{BB962C8B-B14F-4D97-AF65-F5344CB8AC3E}">
        <p14:creationId xmlns:p14="http://schemas.microsoft.com/office/powerpoint/2010/main" val="2502589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4C239-93F2-4C1B-ABD9-A99EA821A53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1F60AAC-C25A-44D8-ABD5-C25CF53C15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604" y="609600"/>
            <a:ext cx="10821817" cy="5219935"/>
          </a:xfrm>
        </p:spPr>
      </p:pic>
    </p:spTree>
    <p:extLst>
      <p:ext uri="{BB962C8B-B14F-4D97-AF65-F5344CB8AC3E}">
        <p14:creationId xmlns:p14="http://schemas.microsoft.com/office/powerpoint/2010/main" val="2536054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01973-5392-49E4-8602-BFB54D57984B}"/>
              </a:ext>
            </a:extLst>
          </p:cNvPr>
          <p:cNvSpPr>
            <a:spLocks noGrp="1"/>
          </p:cNvSpPr>
          <p:nvPr>
            <p:ph type="title"/>
          </p:nvPr>
        </p:nvSpPr>
        <p:spPr>
          <a:xfrm>
            <a:off x="12499759" y="1248792"/>
            <a:ext cx="1069544" cy="5356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1B56B36-EF25-4DB3-9160-4D88497B769E}"/>
              </a:ext>
            </a:extLst>
          </p:cNvPr>
          <p:cNvSpPr>
            <a:spLocks noGrp="1"/>
          </p:cNvSpPr>
          <p:nvPr>
            <p:ph idx="1"/>
          </p:nvPr>
        </p:nvSpPr>
        <p:spPr>
          <a:xfrm>
            <a:off x="134645" y="237478"/>
            <a:ext cx="11922710" cy="6383044"/>
          </a:xfrm>
        </p:spPr>
        <p:txBody>
          <a:bodyPr/>
          <a:lstStyle/>
          <a:p>
            <a:r>
              <a:rPr lang="en-IN" b="1" u="sng" dirty="0">
                <a:latin typeface="Times New Roman" panose="02020603050405020304" pitchFamily="18" charset="0"/>
                <a:cs typeface="Times New Roman" panose="02020603050405020304" pitchFamily="18" charset="0"/>
              </a:rPr>
              <a:t>DEEP BELIF NETWORK:</a:t>
            </a:r>
          </a:p>
          <a:p>
            <a:pPr marL="0" indent="0">
              <a:buNone/>
            </a:pPr>
            <a:r>
              <a:rPr lang="en-US" dirty="0"/>
              <a:t>They are modelled through a composition of Restricted Boltzmann Machines (RBM), a class of neural networks with no output layer. </a:t>
            </a:r>
          </a:p>
          <a:p>
            <a:pPr marL="0" indent="0">
              <a:buNone/>
            </a:pPr>
            <a:r>
              <a:rPr lang="en-US" dirty="0"/>
              <a:t>DBN can be successfully used for pre-training tasks because they excel in the function of feature extraction. They require a training phase, but with unlabeled datasets.</a:t>
            </a:r>
          </a:p>
          <a:p>
            <a:pPr marL="0" indent="0">
              <a:buNone/>
            </a:pPr>
            <a:endParaRPr lang="en-US" dirty="0"/>
          </a:p>
          <a:p>
            <a:r>
              <a:rPr lang="en-US" b="1" u="sng" dirty="0">
                <a:latin typeface="Times New Roman" panose="02020603050405020304" pitchFamily="18" charset="0"/>
                <a:cs typeface="Times New Roman" panose="02020603050405020304" pitchFamily="18" charset="0"/>
              </a:rPr>
              <a:t>RECURRENT NEURAL NETWORKS:</a:t>
            </a:r>
          </a:p>
          <a:p>
            <a:pPr marL="0" indent="0">
              <a:buNone/>
            </a:pPr>
            <a:r>
              <a:rPr lang="en-US" dirty="0"/>
              <a:t>The recursive neural network (RNN) is used to process </a:t>
            </a:r>
            <a:r>
              <a:rPr lang="en-IN" dirty="0"/>
              <a:t>sequence data. In the traditional neural network model, data</a:t>
            </a:r>
            <a:r>
              <a:rPr lang="en-US" dirty="0"/>
              <a:t>from the input layer to the hidden layer to the output layer; The layers are fully connected and there is no connection between the nodes between each layer.</a:t>
            </a:r>
          </a:p>
          <a:p>
            <a:pPr marL="0" indent="0">
              <a:buNone/>
            </a:pPr>
            <a:r>
              <a:rPr lang="en-US" dirty="0"/>
              <a:t>The reason that RNN is a recurrent neural network is that the current output of a sequence is also related to the output </a:t>
            </a:r>
            <a:r>
              <a:rPr lang="en-IN" dirty="0"/>
              <a:t>before it.</a:t>
            </a:r>
          </a:p>
          <a:p>
            <a:pPr marL="0" indent="0">
              <a:buNone/>
            </a:pPr>
            <a:endParaRPr lang="en-IN"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757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C8C3-32A7-48CD-95C7-260D47BA667E}"/>
              </a:ext>
            </a:extLst>
          </p:cNvPr>
          <p:cNvSpPr>
            <a:spLocks noGrp="1"/>
          </p:cNvSpPr>
          <p:nvPr>
            <p:ph type="title"/>
          </p:nvPr>
        </p:nvSpPr>
        <p:spPr>
          <a:xfrm flipV="1">
            <a:off x="12561903" y="1558179"/>
            <a:ext cx="510251" cy="359397"/>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2579018-39EC-4D32-AF9E-9D973228FEAA}"/>
              </a:ext>
            </a:extLst>
          </p:cNvPr>
          <p:cNvSpPr>
            <a:spLocks noGrp="1"/>
          </p:cNvSpPr>
          <p:nvPr>
            <p:ph idx="1"/>
          </p:nvPr>
        </p:nvSpPr>
        <p:spPr>
          <a:xfrm>
            <a:off x="187911" y="157578"/>
            <a:ext cx="11816178" cy="6542843"/>
          </a:xfrm>
        </p:spPr>
        <p:txBody>
          <a:bodyPr/>
          <a:lstStyle/>
          <a:p>
            <a:r>
              <a:rPr lang="en-IN" b="1" u="sng" dirty="0">
                <a:latin typeface="Times New Roman" panose="02020603050405020304" pitchFamily="18" charset="0"/>
                <a:cs typeface="Times New Roman" panose="02020603050405020304" pitchFamily="18" charset="0"/>
              </a:rPr>
              <a:t>CONVOLUTIONAL NEURAL NETWORKS;</a:t>
            </a:r>
          </a:p>
          <a:p>
            <a:pPr marL="0" indent="0">
              <a:buNone/>
            </a:pPr>
            <a:r>
              <a:rPr lang="en-US" dirty="0"/>
              <a:t>Convolutional Neural Networks (CNN) is a type of artificial neural network that has become a hotspot in the field of speech analysis and image recognition. </a:t>
            </a:r>
          </a:p>
          <a:p>
            <a:pPr marL="0" indent="0">
              <a:buNone/>
            </a:pPr>
            <a:r>
              <a:rPr lang="en-US" dirty="0"/>
              <a:t>Its weight-sharing network structure makes it more similar to a biological neural network, thus reducing the complexity of the network model and reducing the number of weights.</a:t>
            </a:r>
          </a:p>
          <a:p>
            <a:pPr marL="0" indent="0">
              <a:buNone/>
            </a:pPr>
            <a:r>
              <a:rPr lang="en-US" dirty="0"/>
              <a:t>CNN is the first truly successful learning algorithm for </a:t>
            </a:r>
            <a:r>
              <a:rPr lang="en-IN" dirty="0"/>
              <a:t>training multi-layer network structures.</a:t>
            </a: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4E2D4A-1477-4954-9238-002B5AD71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7364" y="2672178"/>
            <a:ext cx="9831706" cy="3937361"/>
          </a:xfrm>
          <a:prstGeom prst="rect">
            <a:avLst/>
          </a:prstGeom>
        </p:spPr>
      </p:pic>
    </p:spTree>
    <p:extLst>
      <p:ext uri="{BB962C8B-B14F-4D97-AF65-F5344CB8AC3E}">
        <p14:creationId xmlns:p14="http://schemas.microsoft.com/office/powerpoint/2010/main" val="2809991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0B38-BBFF-4C95-A000-7D8A88B7ED2B}"/>
              </a:ext>
            </a:extLst>
          </p:cNvPr>
          <p:cNvSpPr>
            <a:spLocks noGrp="1"/>
          </p:cNvSpPr>
          <p:nvPr>
            <p:ph type="title"/>
          </p:nvPr>
        </p:nvSpPr>
        <p:spPr>
          <a:xfrm>
            <a:off x="685801" y="1066800"/>
            <a:ext cx="10131425" cy="1456267"/>
          </a:xfrm>
        </p:spPr>
        <p:txBody>
          <a:bodyPr/>
          <a:lstStyle/>
          <a:p>
            <a:r>
              <a:rPr lang="en-IN" b="1" u="sng" dirty="0">
                <a:latin typeface="Times New Roman" panose="02020603050405020304" pitchFamily="18" charset="0"/>
                <a:cs typeface="Times New Roman" panose="02020603050405020304" pitchFamily="18" charset="0"/>
              </a:rPr>
              <a:t>Disadvantages:</a:t>
            </a:r>
          </a:p>
        </p:txBody>
      </p:sp>
      <p:sp>
        <p:nvSpPr>
          <p:cNvPr id="3" name="Content Placeholder 2">
            <a:extLst>
              <a:ext uri="{FF2B5EF4-FFF2-40B4-BE49-F238E27FC236}">
                <a16:creationId xmlns:a16="http://schemas.microsoft.com/office/drawing/2014/main" id="{290932FF-464E-4C6C-96B5-FAEE96C99693}"/>
              </a:ext>
            </a:extLst>
          </p:cNvPr>
          <p:cNvSpPr>
            <a:spLocks noGrp="1"/>
          </p:cNvSpPr>
          <p:nvPr>
            <p:ph idx="1"/>
          </p:nvPr>
        </p:nvSpPr>
        <p:spPr>
          <a:xfrm>
            <a:off x="685801" y="1757779"/>
            <a:ext cx="10131425" cy="4033421"/>
          </a:xfrm>
        </p:spPr>
        <p:txBody>
          <a:bodyPr/>
          <a:lstStyle/>
          <a:p>
            <a:r>
              <a:rPr lang="en-US" dirty="0"/>
              <a:t>The ML and DL methods do not work without representative data, and obtaining such a dataset is difficult and time-consuming.</a:t>
            </a:r>
          </a:p>
          <a:p>
            <a:r>
              <a:rPr lang="en-IN" dirty="0"/>
              <a:t>There </a:t>
            </a:r>
            <a:r>
              <a:rPr lang="en-US" dirty="0"/>
              <a:t>are many problems with the existing public dataset, such as uneven data, outdated content.</a:t>
            </a:r>
            <a:endParaRPr lang="en-IN" dirty="0"/>
          </a:p>
        </p:txBody>
      </p:sp>
    </p:spTree>
    <p:extLst>
      <p:ext uri="{BB962C8B-B14F-4D97-AF65-F5344CB8AC3E}">
        <p14:creationId xmlns:p14="http://schemas.microsoft.com/office/powerpoint/2010/main" val="1070759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53F6E-E32E-4BA1-B526-9524B885C585}"/>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3004A73-640B-424E-B232-05D18077CC95}"/>
              </a:ext>
            </a:extLst>
          </p:cNvPr>
          <p:cNvSpPr>
            <a:spLocks noGrp="1"/>
          </p:cNvSpPr>
          <p:nvPr>
            <p:ph idx="1"/>
          </p:nvPr>
        </p:nvSpPr>
        <p:spPr/>
        <p:txBody>
          <a:bodyPr/>
          <a:lstStyle/>
          <a:p>
            <a:r>
              <a:rPr lang="en-US" dirty="0"/>
              <a:t>Machine and deep learning approaches are increasingly employed for multiple applications and are being adopted also for cyber security, hence it is important to evaluate when and which category of algorithms can achieve adequate results.</a:t>
            </a:r>
          </a:p>
          <a:p>
            <a:r>
              <a:rPr lang="en-US" dirty="0"/>
              <a:t>We analyze these techniques for three relevant cyber security problems: intrusion detection, malware analysis and spam detection.</a:t>
            </a:r>
          </a:p>
          <a:p>
            <a:r>
              <a:rPr lang="en-US" dirty="0"/>
              <a:t>Our takeaway is that machine learning techniques can support the security operator activities and automate some tasks, but pros and cons must be known.</a:t>
            </a:r>
          </a:p>
          <a:p>
            <a:endParaRPr lang="en-IN" dirty="0"/>
          </a:p>
        </p:txBody>
      </p:sp>
    </p:spTree>
    <p:extLst>
      <p:ext uri="{BB962C8B-B14F-4D97-AF65-F5344CB8AC3E}">
        <p14:creationId xmlns:p14="http://schemas.microsoft.com/office/powerpoint/2010/main" val="1189610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AFEF-1B6D-4D4F-8D10-815FB7A9F059}"/>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9F1B448-F342-463D-A033-1940660FF7A6}"/>
              </a:ext>
            </a:extLst>
          </p:cNvPr>
          <p:cNvSpPr>
            <a:spLocks noGrp="1"/>
          </p:cNvSpPr>
          <p:nvPr>
            <p:ph idx="1"/>
          </p:nvPr>
        </p:nvSpPr>
        <p:spPr/>
        <p:txBody>
          <a:bodyPr/>
          <a:lstStyle/>
          <a:p>
            <a:r>
              <a:rPr lang="en-IN" dirty="0">
                <a:hlinkClick r:id="rId2"/>
              </a:rPr>
              <a:t>https://ieeexplore.ieee.org/document/8359287</a:t>
            </a:r>
            <a:endParaRPr lang="en-IN" dirty="0"/>
          </a:p>
          <a:p>
            <a:r>
              <a:rPr lang="en-IN" dirty="0">
                <a:hlinkClick r:id="rId3"/>
              </a:rPr>
              <a:t>https://www.geeksforgeeks.org/</a:t>
            </a:r>
            <a:endParaRPr lang="en-IN" dirty="0"/>
          </a:p>
          <a:p>
            <a:r>
              <a:rPr lang="en-IN" dirty="0">
                <a:hlinkClick r:id="rId4"/>
              </a:rPr>
              <a:t>https://www.wikipedia.org/</a:t>
            </a:r>
            <a:endParaRPr lang="en-IN" dirty="0"/>
          </a:p>
          <a:p>
            <a:r>
              <a:rPr lang="en-IN" dirty="0">
                <a:hlinkClick r:id="rId5"/>
              </a:rPr>
              <a:t>https://www.javatpoint.com/cyber-security-technology</a:t>
            </a:r>
            <a:endParaRPr lang="en-IN" dirty="0"/>
          </a:p>
          <a:p>
            <a:endParaRPr lang="en-IN" dirty="0"/>
          </a:p>
        </p:txBody>
      </p:sp>
    </p:spTree>
    <p:extLst>
      <p:ext uri="{BB962C8B-B14F-4D97-AF65-F5344CB8AC3E}">
        <p14:creationId xmlns:p14="http://schemas.microsoft.com/office/powerpoint/2010/main" val="4006751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3ECA0-87F8-4D17-B3C6-9F542BBD9A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A45DC2-BB8E-4733-B60E-6DBC8A22074D}"/>
              </a:ext>
            </a:extLst>
          </p:cNvPr>
          <p:cNvSpPr>
            <a:spLocks noGrp="1"/>
          </p:cNvSpPr>
          <p:nvPr>
            <p:ph idx="1"/>
          </p:nvPr>
        </p:nvSpPr>
        <p:spPr/>
        <p:txBody>
          <a:bodyPr>
            <a:normAutofit/>
          </a:bodyPr>
          <a:lstStyle/>
          <a:p>
            <a:pPr marL="0" indent="0">
              <a:buNone/>
            </a:pPr>
            <a:r>
              <a:rPr lang="en-IN" sz="5400" b="1"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27069141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13863</TotalTime>
  <Words>2125</Words>
  <Application>Microsoft Office PowerPoint</Application>
  <PresentationFormat>Widescreen</PresentationFormat>
  <Paragraphs>165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Celestial</vt:lpstr>
      <vt:lpstr>Cybersecurity using machine learning and deep learning</vt:lpstr>
      <vt:lpstr>Content: </vt:lpstr>
      <vt:lpstr>ABSTRACT:</vt:lpstr>
      <vt:lpstr>INTRODUCTION:</vt:lpstr>
      <vt:lpstr>cyber security:</vt:lpstr>
      <vt:lpstr>PowerPoint Presentation</vt:lpstr>
      <vt:lpstr>Intrusion detection:</vt:lpstr>
      <vt:lpstr>Machine learning and deep learning:</vt:lpstr>
      <vt:lpstr>PowerPoint Presentation</vt:lpstr>
      <vt:lpstr>DIFFERENCE BETWEEN MACHINE LEARNING AND DEEP LEARNING:</vt:lpstr>
      <vt:lpstr>PowerPoint Presentation</vt:lpstr>
      <vt:lpstr>Network security data set:</vt:lpstr>
      <vt:lpstr>Types of network security data set: </vt:lpstr>
      <vt:lpstr>EXISTING SYSTEM:</vt:lpstr>
      <vt:lpstr>PowerPoint Presentation</vt:lpstr>
      <vt:lpstr>DISADVANTAGES:</vt:lpstr>
      <vt:lpstr>DISADVANTAGES OF ANTIVIRUS:   1. Limited Detection Techniques  2. Slows Down PC or Network  3. Doesn’t Fully Protect         </vt:lpstr>
      <vt:lpstr>NEW SYSTEM:DESIGN AND IMPLEMENTATION:</vt:lpstr>
      <vt:lpstr>PowerPoint Presentation</vt:lpstr>
      <vt:lpstr>PowerPoint Presentation</vt:lpstr>
      <vt:lpstr>PowerPoint Presentation</vt:lpstr>
      <vt:lpstr>PowerPoint Presentation</vt:lpstr>
      <vt:lpstr>Disadvantages: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using machine learning and deep learning</dc:title>
  <dc:creator>Sudhanshu Shekhar</dc:creator>
  <cp:lastModifiedBy>Sudhanshu Shekhar</cp:lastModifiedBy>
  <cp:revision>33</cp:revision>
  <dcterms:created xsi:type="dcterms:W3CDTF">2020-02-19T20:15:07Z</dcterms:created>
  <dcterms:modified xsi:type="dcterms:W3CDTF">2020-02-29T11:46:23Z</dcterms:modified>
</cp:coreProperties>
</file>